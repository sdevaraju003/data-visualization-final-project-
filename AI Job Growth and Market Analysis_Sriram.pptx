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77504" autoAdjust="0"/>
  </p:normalViewPr>
  <p:slideViewPr>
    <p:cSldViewPr snapToGrid="0">
      <p:cViewPr>
        <p:scale>
          <a:sx n="58" d="100"/>
          <a:sy n="58" d="100"/>
        </p:scale>
        <p:origin x="1350" y="2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806822-AB21-4C05-B64B-E65EEDAB8732}"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06D1FC4B-25AE-4835-81C5-5304FCA13FA6}">
      <dgm:prSet/>
      <dgm:spPr/>
      <dgm:t>
        <a:bodyPr/>
        <a:lstStyle/>
        <a:p>
          <a:r>
            <a:rPr lang="en-US" b="0" i="0" baseline="0"/>
            <a:t>Artificial intelligence jobs are increasing in many industries</a:t>
          </a:r>
          <a:endParaRPr lang="en-US"/>
        </a:p>
      </dgm:t>
    </dgm:pt>
    <dgm:pt modelId="{6D897827-C1F6-4422-B403-394CEEDB209F}" type="parTrans" cxnId="{C532972C-2D88-4590-BFC0-34152C77BC2E}">
      <dgm:prSet/>
      <dgm:spPr/>
      <dgm:t>
        <a:bodyPr/>
        <a:lstStyle/>
        <a:p>
          <a:endParaRPr lang="en-US"/>
        </a:p>
      </dgm:t>
    </dgm:pt>
    <dgm:pt modelId="{6A5C722A-4376-422C-8056-A92A84A0C369}" type="sibTrans" cxnId="{C532972C-2D88-4590-BFC0-34152C77BC2E}">
      <dgm:prSet/>
      <dgm:spPr/>
      <dgm:t>
        <a:bodyPr/>
        <a:lstStyle/>
        <a:p>
          <a:endParaRPr lang="en-US"/>
        </a:p>
      </dgm:t>
    </dgm:pt>
    <dgm:pt modelId="{AB18607C-48A2-485C-BD05-D800D59D98B7}">
      <dgm:prSet/>
      <dgm:spPr/>
      <dgm:t>
        <a:bodyPr/>
        <a:lstStyle/>
        <a:p>
          <a:r>
            <a:rPr lang="en-US" b="0" i="0" baseline="0"/>
            <a:t>Employers require different experience levels and technical skills</a:t>
          </a:r>
          <a:endParaRPr lang="en-US"/>
        </a:p>
      </dgm:t>
    </dgm:pt>
    <dgm:pt modelId="{8EA3615D-9F7E-4D36-8CF0-D796324CBE16}" type="parTrans" cxnId="{EFA4F77A-CFCF-4153-8606-0F1F354DEC46}">
      <dgm:prSet/>
      <dgm:spPr/>
      <dgm:t>
        <a:bodyPr/>
        <a:lstStyle/>
        <a:p>
          <a:endParaRPr lang="en-US"/>
        </a:p>
      </dgm:t>
    </dgm:pt>
    <dgm:pt modelId="{4C6F0B5A-B04A-43F2-B1ED-D972F9ECCB7E}" type="sibTrans" cxnId="{EFA4F77A-CFCF-4153-8606-0F1F354DEC46}">
      <dgm:prSet/>
      <dgm:spPr/>
      <dgm:t>
        <a:bodyPr/>
        <a:lstStyle/>
        <a:p>
          <a:endParaRPr lang="en-US"/>
        </a:p>
      </dgm:t>
    </dgm:pt>
    <dgm:pt modelId="{0C42E2F0-2259-4805-9C6F-3CF64883A70B}">
      <dgm:prSet/>
      <dgm:spPr/>
      <dgm:t>
        <a:bodyPr/>
        <a:lstStyle/>
        <a:p>
          <a:r>
            <a:rPr lang="en-US" b="0" i="0" baseline="0"/>
            <a:t>Salary varies depending on experience and role level</a:t>
          </a:r>
          <a:endParaRPr lang="en-US"/>
        </a:p>
      </dgm:t>
    </dgm:pt>
    <dgm:pt modelId="{04F08B52-933F-4475-8302-F5F151FCF91C}" type="parTrans" cxnId="{69C12F6B-80B8-4141-8070-E4688F771761}">
      <dgm:prSet/>
      <dgm:spPr/>
      <dgm:t>
        <a:bodyPr/>
        <a:lstStyle/>
        <a:p>
          <a:endParaRPr lang="en-US"/>
        </a:p>
      </dgm:t>
    </dgm:pt>
    <dgm:pt modelId="{6DEFE43E-5203-4732-91F6-ACD702EF95F6}" type="sibTrans" cxnId="{69C12F6B-80B8-4141-8070-E4688F771761}">
      <dgm:prSet/>
      <dgm:spPr/>
      <dgm:t>
        <a:bodyPr/>
        <a:lstStyle/>
        <a:p>
          <a:endParaRPr lang="en-US"/>
        </a:p>
      </dgm:t>
    </dgm:pt>
    <dgm:pt modelId="{795EF491-EB62-4740-9E84-72BB56EC3BAE}">
      <dgm:prSet/>
      <dgm:spPr/>
      <dgm:t>
        <a:bodyPr/>
        <a:lstStyle/>
        <a:p>
          <a:r>
            <a:rPr lang="en-US" b="0" i="0" baseline="0"/>
            <a:t>Data visualization helps understand hiring trends over time</a:t>
          </a:r>
          <a:endParaRPr lang="en-US"/>
        </a:p>
      </dgm:t>
    </dgm:pt>
    <dgm:pt modelId="{95C069D6-DAC1-4974-AD0A-01E99CDA518A}" type="parTrans" cxnId="{3B5BD9DA-3495-4D03-B961-3BEFBB73458B}">
      <dgm:prSet/>
      <dgm:spPr/>
      <dgm:t>
        <a:bodyPr/>
        <a:lstStyle/>
        <a:p>
          <a:endParaRPr lang="en-US"/>
        </a:p>
      </dgm:t>
    </dgm:pt>
    <dgm:pt modelId="{C359E34F-72FF-4962-BBF6-8AC8D1700B9B}" type="sibTrans" cxnId="{3B5BD9DA-3495-4D03-B961-3BEFBB73458B}">
      <dgm:prSet/>
      <dgm:spPr/>
      <dgm:t>
        <a:bodyPr/>
        <a:lstStyle/>
        <a:p>
          <a:endParaRPr lang="en-US"/>
        </a:p>
      </dgm:t>
    </dgm:pt>
    <dgm:pt modelId="{AD649BB5-5BD5-43DB-8618-2B189829855F}" type="pres">
      <dgm:prSet presAssocID="{FB806822-AB21-4C05-B64B-E65EEDAB8732}" presName="diagram" presStyleCnt="0">
        <dgm:presLayoutVars>
          <dgm:dir/>
          <dgm:resizeHandles val="exact"/>
        </dgm:presLayoutVars>
      </dgm:prSet>
      <dgm:spPr/>
    </dgm:pt>
    <dgm:pt modelId="{684D89E8-A122-48E5-9938-F8EFF08343D6}" type="pres">
      <dgm:prSet presAssocID="{06D1FC4B-25AE-4835-81C5-5304FCA13FA6}" presName="node" presStyleLbl="node1" presStyleIdx="0" presStyleCnt="4">
        <dgm:presLayoutVars>
          <dgm:bulletEnabled val="1"/>
        </dgm:presLayoutVars>
      </dgm:prSet>
      <dgm:spPr/>
    </dgm:pt>
    <dgm:pt modelId="{9839CBE4-B8BC-4DFC-B91E-527E394872C5}" type="pres">
      <dgm:prSet presAssocID="{6A5C722A-4376-422C-8056-A92A84A0C369}" presName="sibTrans" presStyleCnt="0"/>
      <dgm:spPr/>
    </dgm:pt>
    <dgm:pt modelId="{D7985775-66F7-4B52-9A23-2164E2D5B815}" type="pres">
      <dgm:prSet presAssocID="{AB18607C-48A2-485C-BD05-D800D59D98B7}" presName="node" presStyleLbl="node1" presStyleIdx="1" presStyleCnt="4">
        <dgm:presLayoutVars>
          <dgm:bulletEnabled val="1"/>
        </dgm:presLayoutVars>
      </dgm:prSet>
      <dgm:spPr/>
    </dgm:pt>
    <dgm:pt modelId="{43258FDC-4236-4249-BEBF-113B686749A7}" type="pres">
      <dgm:prSet presAssocID="{4C6F0B5A-B04A-43F2-B1ED-D972F9ECCB7E}" presName="sibTrans" presStyleCnt="0"/>
      <dgm:spPr/>
    </dgm:pt>
    <dgm:pt modelId="{F8F73D0E-F0AE-4323-A3D2-2675DDF15E44}" type="pres">
      <dgm:prSet presAssocID="{0C42E2F0-2259-4805-9C6F-3CF64883A70B}" presName="node" presStyleLbl="node1" presStyleIdx="2" presStyleCnt="4">
        <dgm:presLayoutVars>
          <dgm:bulletEnabled val="1"/>
        </dgm:presLayoutVars>
      </dgm:prSet>
      <dgm:spPr/>
    </dgm:pt>
    <dgm:pt modelId="{7DA4F9C9-07B9-48BA-8946-60B6C721B277}" type="pres">
      <dgm:prSet presAssocID="{6DEFE43E-5203-4732-91F6-ACD702EF95F6}" presName="sibTrans" presStyleCnt="0"/>
      <dgm:spPr/>
    </dgm:pt>
    <dgm:pt modelId="{60FC0330-7D06-4D0B-886A-E75E8BFCA155}" type="pres">
      <dgm:prSet presAssocID="{795EF491-EB62-4740-9E84-72BB56EC3BAE}" presName="node" presStyleLbl="node1" presStyleIdx="3" presStyleCnt="4">
        <dgm:presLayoutVars>
          <dgm:bulletEnabled val="1"/>
        </dgm:presLayoutVars>
      </dgm:prSet>
      <dgm:spPr/>
    </dgm:pt>
  </dgm:ptLst>
  <dgm:cxnLst>
    <dgm:cxn modelId="{D4CE321D-44F9-4E9F-B793-C3782B4C27EA}" type="presOf" srcId="{0C42E2F0-2259-4805-9C6F-3CF64883A70B}" destId="{F8F73D0E-F0AE-4323-A3D2-2675DDF15E44}" srcOrd="0" destOrd="0" presId="urn:microsoft.com/office/officeart/2005/8/layout/default"/>
    <dgm:cxn modelId="{C532972C-2D88-4590-BFC0-34152C77BC2E}" srcId="{FB806822-AB21-4C05-B64B-E65EEDAB8732}" destId="{06D1FC4B-25AE-4835-81C5-5304FCA13FA6}" srcOrd="0" destOrd="0" parTransId="{6D897827-C1F6-4422-B403-394CEEDB209F}" sibTransId="{6A5C722A-4376-422C-8056-A92A84A0C369}"/>
    <dgm:cxn modelId="{CA6F1E2E-EBCD-45E5-B021-2A4BB83BEF2E}" type="presOf" srcId="{AB18607C-48A2-485C-BD05-D800D59D98B7}" destId="{D7985775-66F7-4B52-9A23-2164E2D5B815}" srcOrd="0" destOrd="0" presId="urn:microsoft.com/office/officeart/2005/8/layout/default"/>
    <dgm:cxn modelId="{D0342D6B-85EA-43E2-A2D3-8756A39683B2}" type="presOf" srcId="{795EF491-EB62-4740-9E84-72BB56EC3BAE}" destId="{60FC0330-7D06-4D0B-886A-E75E8BFCA155}" srcOrd="0" destOrd="0" presId="urn:microsoft.com/office/officeart/2005/8/layout/default"/>
    <dgm:cxn modelId="{69C12F6B-80B8-4141-8070-E4688F771761}" srcId="{FB806822-AB21-4C05-B64B-E65EEDAB8732}" destId="{0C42E2F0-2259-4805-9C6F-3CF64883A70B}" srcOrd="2" destOrd="0" parTransId="{04F08B52-933F-4475-8302-F5F151FCF91C}" sibTransId="{6DEFE43E-5203-4732-91F6-ACD702EF95F6}"/>
    <dgm:cxn modelId="{4183F350-72D1-4F26-8F99-D00C73D1D065}" type="presOf" srcId="{FB806822-AB21-4C05-B64B-E65EEDAB8732}" destId="{AD649BB5-5BD5-43DB-8618-2B189829855F}" srcOrd="0" destOrd="0" presId="urn:microsoft.com/office/officeart/2005/8/layout/default"/>
    <dgm:cxn modelId="{194FF078-8CCD-4D2C-B279-FC28F96C4948}" type="presOf" srcId="{06D1FC4B-25AE-4835-81C5-5304FCA13FA6}" destId="{684D89E8-A122-48E5-9938-F8EFF08343D6}" srcOrd="0" destOrd="0" presId="urn:microsoft.com/office/officeart/2005/8/layout/default"/>
    <dgm:cxn modelId="{EFA4F77A-CFCF-4153-8606-0F1F354DEC46}" srcId="{FB806822-AB21-4C05-B64B-E65EEDAB8732}" destId="{AB18607C-48A2-485C-BD05-D800D59D98B7}" srcOrd="1" destOrd="0" parTransId="{8EA3615D-9F7E-4D36-8CF0-D796324CBE16}" sibTransId="{4C6F0B5A-B04A-43F2-B1ED-D972F9ECCB7E}"/>
    <dgm:cxn modelId="{3B5BD9DA-3495-4D03-B961-3BEFBB73458B}" srcId="{FB806822-AB21-4C05-B64B-E65EEDAB8732}" destId="{795EF491-EB62-4740-9E84-72BB56EC3BAE}" srcOrd="3" destOrd="0" parTransId="{95C069D6-DAC1-4974-AD0A-01E99CDA518A}" sibTransId="{C359E34F-72FF-4962-BBF6-8AC8D1700B9B}"/>
    <dgm:cxn modelId="{827E8DE0-1C3C-4E11-9C07-28F14901A1B8}" type="presParOf" srcId="{AD649BB5-5BD5-43DB-8618-2B189829855F}" destId="{684D89E8-A122-48E5-9938-F8EFF08343D6}" srcOrd="0" destOrd="0" presId="urn:microsoft.com/office/officeart/2005/8/layout/default"/>
    <dgm:cxn modelId="{5D3196FA-51C2-4B73-A55B-108787053092}" type="presParOf" srcId="{AD649BB5-5BD5-43DB-8618-2B189829855F}" destId="{9839CBE4-B8BC-4DFC-B91E-527E394872C5}" srcOrd="1" destOrd="0" presId="urn:microsoft.com/office/officeart/2005/8/layout/default"/>
    <dgm:cxn modelId="{42AC79AC-5F60-4F16-A93D-A73A5CFBFB3A}" type="presParOf" srcId="{AD649BB5-5BD5-43DB-8618-2B189829855F}" destId="{D7985775-66F7-4B52-9A23-2164E2D5B815}" srcOrd="2" destOrd="0" presId="urn:microsoft.com/office/officeart/2005/8/layout/default"/>
    <dgm:cxn modelId="{8242A3A3-618E-4BD2-8BFA-5DE5B4F395D2}" type="presParOf" srcId="{AD649BB5-5BD5-43DB-8618-2B189829855F}" destId="{43258FDC-4236-4249-BEBF-113B686749A7}" srcOrd="3" destOrd="0" presId="urn:microsoft.com/office/officeart/2005/8/layout/default"/>
    <dgm:cxn modelId="{3FA4CB9E-1A04-480B-B457-D45B7AA9F439}" type="presParOf" srcId="{AD649BB5-5BD5-43DB-8618-2B189829855F}" destId="{F8F73D0E-F0AE-4323-A3D2-2675DDF15E44}" srcOrd="4" destOrd="0" presId="urn:microsoft.com/office/officeart/2005/8/layout/default"/>
    <dgm:cxn modelId="{9061810A-C65B-4EF9-AD73-0B154F6D3E96}" type="presParOf" srcId="{AD649BB5-5BD5-43DB-8618-2B189829855F}" destId="{7DA4F9C9-07B9-48BA-8946-60B6C721B277}" srcOrd="5" destOrd="0" presId="urn:microsoft.com/office/officeart/2005/8/layout/default"/>
    <dgm:cxn modelId="{925ECEB5-7F48-4C23-9020-EBD85836D017}" type="presParOf" srcId="{AD649BB5-5BD5-43DB-8618-2B189829855F}" destId="{60FC0330-7D06-4D0B-886A-E75E8BFCA155}"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5A322E-B907-4E82-A0C2-06326EAA14B4}" type="doc">
      <dgm:prSet loTypeId="urn:microsoft.com/office/officeart/2005/8/layout/matrix3" loCatId="matrix" qsTypeId="urn:microsoft.com/office/officeart/2005/8/quickstyle/simple1" qsCatId="simple" csTypeId="urn:microsoft.com/office/officeart/2005/8/colors/accent4_2" csCatId="accent4"/>
      <dgm:spPr/>
      <dgm:t>
        <a:bodyPr/>
        <a:lstStyle/>
        <a:p>
          <a:endParaRPr lang="en-US"/>
        </a:p>
      </dgm:t>
    </dgm:pt>
    <dgm:pt modelId="{F9A16C12-9112-414A-88A6-6D1FD1663A8E}">
      <dgm:prSet/>
      <dgm:spPr/>
      <dgm:t>
        <a:bodyPr/>
        <a:lstStyle/>
        <a:p>
          <a:r>
            <a:rPr lang="en-US" b="0" i="0" baseline="0"/>
            <a:t>Dataset contains thousands of AI job postings</a:t>
          </a:r>
          <a:endParaRPr lang="en-US"/>
        </a:p>
      </dgm:t>
    </dgm:pt>
    <dgm:pt modelId="{733B3FDF-4F90-4722-9814-A4B03AA45F95}" type="parTrans" cxnId="{B0F68625-E7F7-4579-9F44-3E1CD2A89E8A}">
      <dgm:prSet/>
      <dgm:spPr/>
      <dgm:t>
        <a:bodyPr/>
        <a:lstStyle/>
        <a:p>
          <a:endParaRPr lang="en-US"/>
        </a:p>
      </dgm:t>
    </dgm:pt>
    <dgm:pt modelId="{C727601F-3A9D-4A16-ACB2-04BE0AA625A8}" type="sibTrans" cxnId="{B0F68625-E7F7-4579-9F44-3E1CD2A89E8A}">
      <dgm:prSet/>
      <dgm:spPr/>
      <dgm:t>
        <a:bodyPr/>
        <a:lstStyle/>
        <a:p>
          <a:endParaRPr lang="en-US"/>
        </a:p>
      </dgm:t>
    </dgm:pt>
    <dgm:pt modelId="{5D688B64-B9A2-4925-9112-68EFE5DA96E9}">
      <dgm:prSet/>
      <dgm:spPr/>
      <dgm:t>
        <a:bodyPr/>
        <a:lstStyle/>
        <a:p>
          <a:r>
            <a:rPr lang="en-US" b="0" i="0" baseline="0"/>
            <a:t>Includes posting date, salary, experience level, and skills</a:t>
          </a:r>
          <a:endParaRPr lang="en-US"/>
        </a:p>
      </dgm:t>
    </dgm:pt>
    <dgm:pt modelId="{22B67D83-E25B-438B-B424-A76E0FF645F0}" type="parTrans" cxnId="{611ABC71-7876-4184-B882-EFF29EBE1655}">
      <dgm:prSet/>
      <dgm:spPr/>
      <dgm:t>
        <a:bodyPr/>
        <a:lstStyle/>
        <a:p>
          <a:endParaRPr lang="en-US"/>
        </a:p>
      </dgm:t>
    </dgm:pt>
    <dgm:pt modelId="{0C98CE19-65B6-4C45-B78C-1184F6B75036}" type="sibTrans" cxnId="{611ABC71-7876-4184-B882-EFF29EBE1655}">
      <dgm:prSet/>
      <dgm:spPr/>
      <dgm:t>
        <a:bodyPr/>
        <a:lstStyle/>
        <a:p>
          <a:endParaRPr lang="en-US"/>
        </a:p>
      </dgm:t>
    </dgm:pt>
    <dgm:pt modelId="{391ADA79-D0CB-4F14-85B0-D80085BB5090}">
      <dgm:prSet/>
      <dgm:spPr/>
      <dgm:t>
        <a:bodyPr/>
        <a:lstStyle/>
        <a:p>
          <a:r>
            <a:rPr lang="en-US" b="0" i="0" baseline="0"/>
            <a:t>Posting date used for monthly job count chart</a:t>
          </a:r>
          <a:endParaRPr lang="en-US"/>
        </a:p>
      </dgm:t>
    </dgm:pt>
    <dgm:pt modelId="{2727A496-08B3-4BC8-8595-ABB9AFCDE1B0}" type="parTrans" cxnId="{B43119A3-1C7B-4551-889D-F6CC1A3004BD}">
      <dgm:prSet/>
      <dgm:spPr/>
      <dgm:t>
        <a:bodyPr/>
        <a:lstStyle/>
        <a:p>
          <a:endParaRPr lang="en-US"/>
        </a:p>
      </dgm:t>
    </dgm:pt>
    <dgm:pt modelId="{6A0A1024-9F7E-4296-BD3A-0376327C09B0}" type="sibTrans" cxnId="{B43119A3-1C7B-4551-889D-F6CC1A3004BD}">
      <dgm:prSet/>
      <dgm:spPr/>
      <dgm:t>
        <a:bodyPr/>
        <a:lstStyle/>
        <a:p>
          <a:endParaRPr lang="en-US"/>
        </a:p>
      </dgm:t>
    </dgm:pt>
    <dgm:pt modelId="{D16CB420-42C7-4DBD-8D74-CA22E832198B}">
      <dgm:prSet/>
      <dgm:spPr/>
      <dgm:t>
        <a:bodyPr/>
        <a:lstStyle/>
        <a:p>
          <a:r>
            <a:rPr lang="en-US" b="0" i="0" baseline="0" dirty="0"/>
            <a:t>Skills column used to find most requested technologies</a:t>
          </a:r>
          <a:endParaRPr lang="en-US" dirty="0"/>
        </a:p>
      </dgm:t>
    </dgm:pt>
    <dgm:pt modelId="{06881040-22A0-4294-8F2F-69DFA71D0EA1}" type="parTrans" cxnId="{8D76B4E6-D16A-40B8-9C76-5D0F459EFC32}">
      <dgm:prSet/>
      <dgm:spPr/>
      <dgm:t>
        <a:bodyPr/>
        <a:lstStyle/>
        <a:p>
          <a:endParaRPr lang="en-US"/>
        </a:p>
      </dgm:t>
    </dgm:pt>
    <dgm:pt modelId="{7236DFDB-7728-412D-9F52-322FA9170DA3}" type="sibTrans" cxnId="{8D76B4E6-D16A-40B8-9C76-5D0F459EFC32}">
      <dgm:prSet/>
      <dgm:spPr/>
      <dgm:t>
        <a:bodyPr/>
        <a:lstStyle/>
        <a:p>
          <a:endParaRPr lang="en-US"/>
        </a:p>
      </dgm:t>
    </dgm:pt>
    <dgm:pt modelId="{694A714B-EB7C-4C31-B8FA-490961740C04}" type="pres">
      <dgm:prSet presAssocID="{CE5A322E-B907-4E82-A0C2-06326EAA14B4}" presName="matrix" presStyleCnt="0">
        <dgm:presLayoutVars>
          <dgm:chMax val="1"/>
          <dgm:dir/>
          <dgm:resizeHandles val="exact"/>
        </dgm:presLayoutVars>
      </dgm:prSet>
      <dgm:spPr/>
    </dgm:pt>
    <dgm:pt modelId="{D2F2E6B4-5CD1-4252-B514-3ADCA7FD5562}" type="pres">
      <dgm:prSet presAssocID="{CE5A322E-B907-4E82-A0C2-06326EAA14B4}" presName="diamond" presStyleLbl="bgShp" presStyleIdx="0" presStyleCnt="1"/>
      <dgm:spPr/>
    </dgm:pt>
    <dgm:pt modelId="{4FEC4EEE-FAC2-4E3A-A39F-7FEAFEF48683}" type="pres">
      <dgm:prSet presAssocID="{CE5A322E-B907-4E82-A0C2-06326EAA14B4}" presName="quad1" presStyleLbl="node1" presStyleIdx="0" presStyleCnt="4">
        <dgm:presLayoutVars>
          <dgm:chMax val="0"/>
          <dgm:chPref val="0"/>
          <dgm:bulletEnabled val="1"/>
        </dgm:presLayoutVars>
      </dgm:prSet>
      <dgm:spPr/>
    </dgm:pt>
    <dgm:pt modelId="{3792E22E-FD12-4728-B010-33262F2E6095}" type="pres">
      <dgm:prSet presAssocID="{CE5A322E-B907-4E82-A0C2-06326EAA14B4}" presName="quad2" presStyleLbl="node1" presStyleIdx="1" presStyleCnt="4">
        <dgm:presLayoutVars>
          <dgm:chMax val="0"/>
          <dgm:chPref val="0"/>
          <dgm:bulletEnabled val="1"/>
        </dgm:presLayoutVars>
      </dgm:prSet>
      <dgm:spPr/>
    </dgm:pt>
    <dgm:pt modelId="{9710A453-02BF-4DF0-AF0E-2787EE68A067}" type="pres">
      <dgm:prSet presAssocID="{CE5A322E-B907-4E82-A0C2-06326EAA14B4}" presName="quad3" presStyleLbl="node1" presStyleIdx="2" presStyleCnt="4">
        <dgm:presLayoutVars>
          <dgm:chMax val="0"/>
          <dgm:chPref val="0"/>
          <dgm:bulletEnabled val="1"/>
        </dgm:presLayoutVars>
      </dgm:prSet>
      <dgm:spPr/>
    </dgm:pt>
    <dgm:pt modelId="{3A44D111-D1F0-4129-8B0F-92E212584AD7}" type="pres">
      <dgm:prSet presAssocID="{CE5A322E-B907-4E82-A0C2-06326EAA14B4}" presName="quad4" presStyleLbl="node1" presStyleIdx="3" presStyleCnt="4">
        <dgm:presLayoutVars>
          <dgm:chMax val="0"/>
          <dgm:chPref val="0"/>
          <dgm:bulletEnabled val="1"/>
        </dgm:presLayoutVars>
      </dgm:prSet>
      <dgm:spPr/>
    </dgm:pt>
  </dgm:ptLst>
  <dgm:cxnLst>
    <dgm:cxn modelId="{B7347C0D-D745-4EBC-B58E-00B4EBF66BED}" type="presOf" srcId="{5D688B64-B9A2-4925-9112-68EFE5DA96E9}" destId="{3792E22E-FD12-4728-B010-33262F2E6095}" srcOrd="0" destOrd="0" presId="urn:microsoft.com/office/officeart/2005/8/layout/matrix3"/>
    <dgm:cxn modelId="{769B880F-28AD-42D8-91DA-9C70A62FEA1E}" type="presOf" srcId="{391ADA79-D0CB-4F14-85B0-D80085BB5090}" destId="{9710A453-02BF-4DF0-AF0E-2787EE68A067}" srcOrd="0" destOrd="0" presId="urn:microsoft.com/office/officeart/2005/8/layout/matrix3"/>
    <dgm:cxn modelId="{299B171B-0B82-46FB-87B5-61F8F264224C}" type="presOf" srcId="{D16CB420-42C7-4DBD-8D74-CA22E832198B}" destId="{3A44D111-D1F0-4129-8B0F-92E212584AD7}" srcOrd="0" destOrd="0" presId="urn:microsoft.com/office/officeart/2005/8/layout/matrix3"/>
    <dgm:cxn modelId="{B0F68625-E7F7-4579-9F44-3E1CD2A89E8A}" srcId="{CE5A322E-B907-4E82-A0C2-06326EAA14B4}" destId="{F9A16C12-9112-414A-88A6-6D1FD1663A8E}" srcOrd="0" destOrd="0" parTransId="{733B3FDF-4F90-4722-9814-A4B03AA45F95}" sibTransId="{C727601F-3A9D-4A16-ACB2-04BE0AA625A8}"/>
    <dgm:cxn modelId="{611ABC71-7876-4184-B882-EFF29EBE1655}" srcId="{CE5A322E-B907-4E82-A0C2-06326EAA14B4}" destId="{5D688B64-B9A2-4925-9112-68EFE5DA96E9}" srcOrd="1" destOrd="0" parTransId="{22B67D83-E25B-438B-B424-A76E0FF645F0}" sibTransId="{0C98CE19-65B6-4C45-B78C-1184F6B75036}"/>
    <dgm:cxn modelId="{1A325088-B7B0-42E5-A6C1-0A8D94819CA1}" type="presOf" srcId="{CE5A322E-B907-4E82-A0C2-06326EAA14B4}" destId="{694A714B-EB7C-4C31-B8FA-490961740C04}" srcOrd="0" destOrd="0" presId="urn:microsoft.com/office/officeart/2005/8/layout/matrix3"/>
    <dgm:cxn modelId="{2FA77692-B7BD-4F2B-8D50-33FE34270D2A}" type="presOf" srcId="{F9A16C12-9112-414A-88A6-6D1FD1663A8E}" destId="{4FEC4EEE-FAC2-4E3A-A39F-7FEAFEF48683}" srcOrd="0" destOrd="0" presId="urn:microsoft.com/office/officeart/2005/8/layout/matrix3"/>
    <dgm:cxn modelId="{B43119A3-1C7B-4551-889D-F6CC1A3004BD}" srcId="{CE5A322E-B907-4E82-A0C2-06326EAA14B4}" destId="{391ADA79-D0CB-4F14-85B0-D80085BB5090}" srcOrd="2" destOrd="0" parTransId="{2727A496-08B3-4BC8-8595-ABB9AFCDE1B0}" sibTransId="{6A0A1024-9F7E-4296-BD3A-0376327C09B0}"/>
    <dgm:cxn modelId="{8D76B4E6-D16A-40B8-9C76-5D0F459EFC32}" srcId="{CE5A322E-B907-4E82-A0C2-06326EAA14B4}" destId="{D16CB420-42C7-4DBD-8D74-CA22E832198B}" srcOrd="3" destOrd="0" parTransId="{06881040-22A0-4294-8F2F-69DFA71D0EA1}" sibTransId="{7236DFDB-7728-412D-9F52-322FA9170DA3}"/>
    <dgm:cxn modelId="{A25D3764-684F-4BC5-BA45-F54A19DD4D49}" type="presParOf" srcId="{694A714B-EB7C-4C31-B8FA-490961740C04}" destId="{D2F2E6B4-5CD1-4252-B514-3ADCA7FD5562}" srcOrd="0" destOrd="0" presId="urn:microsoft.com/office/officeart/2005/8/layout/matrix3"/>
    <dgm:cxn modelId="{EE6C383C-A7BE-4CFE-8008-7C5F5FFCD920}" type="presParOf" srcId="{694A714B-EB7C-4C31-B8FA-490961740C04}" destId="{4FEC4EEE-FAC2-4E3A-A39F-7FEAFEF48683}" srcOrd="1" destOrd="0" presId="urn:microsoft.com/office/officeart/2005/8/layout/matrix3"/>
    <dgm:cxn modelId="{E8FB27BC-F32C-4990-8939-831BCF068952}" type="presParOf" srcId="{694A714B-EB7C-4C31-B8FA-490961740C04}" destId="{3792E22E-FD12-4728-B010-33262F2E6095}" srcOrd="2" destOrd="0" presId="urn:microsoft.com/office/officeart/2005/8/layout/matrix3"/>
    <dgm:cxn modelId="{47E55AE4-6985-417D-9D99-EC2C2F313185}" type="presParOf" srcId="{694A714B-EB7C-4C31-B8FA-490961740C04}" destId="{9710A453-02BF-4DF0-AF0E-2787EE68A067}" srcOrd="3" destOrd="0" presId="urn:microsoft.com/office/officeart/2005/8/layout/matrix3"/>
    <dgm:cxn modelId="{52365B6E-FE8A-467E-B19A-A953E2F16F06}" type="presParOf" srcId="{694A714B-EB7C-4C31-B8FA-490961740C04}" destId="{3A44D111-D1F0-4129-8B0F-92E212584AD7}"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A70711-A7F8-4338-91A7-A8CFCC1C8BE1}"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114D82E-6532-4A4A-8936-9040AF2ABB5E}">
      <dgm:prSet/>
      <dgm:spPr/>
      <dgm:t>
        <a:bodyPr/>
        <a:lstStyle/>
        <a:p>
          <a:r>
            <a:rPr lang="en-US" b="0" i="0" baseline="0"/>
            <a:t>Python used with pandas and matplotlib</a:t>
          </a:r>
          <a:endParaRPr lang="en-US"/>
        </a:p>
      </dgm:t>
    </dgm:pt>
    <dgm:pt modelId="{665EE030-0A82-4022-8619-7B5B8F6DFE99}" type="parTrans" cxnId="{6E998C12-1EDF-4E44-ABA1-52387B570C54}">
      <dgm:prSet/>
      <dgm:spPr/>
      <dgm:t>
        <a:bodyPr/>
        <a:lstStyle/>
        <a:p>
          <a:endParaRPr lang="en-US"/>
        </a:p>
      </dgm:t>
    </dgm:pt>
    <dgm:pt modelId="{59511852-8D7C-41A7-B2A3-1AE0B27E0E4C}" type="sibTrans" cxnId="{6E998C12-1EDF-4E44-ABA1-52387B570C54}">
      <dgm:prSet/>
      <dgm:spPr/>
      <dgm:t>
        <a:bodyPr/>
        <a:lstStyle/>
        <a:p>
          <a:endParaRPr lang="en-US"/>
        </a:p>
      </dgm:t>
    </dgm:pt>
    <dgm:pt modelId="{98CC1E51-C538-4F7F-A75B-03040C3B8FD0}">
      <dgm:prSet/>
      <dgm:spPr/>
      <dgm:t>
        <a:bodyPr/>
        <a:lstStyle/>
        <a:p>
          <a:r>
            <a:rPr lang="en-US" b="0" i="0" baseline="0"/>
            <a:t>Job postings grouped by month for time-series plot</a:t>
          </a:r>
          <a:endParaRPr lang="en-US"/>
        </a:p>
      </dgm:t>
    </dgm:pt>
    <dgm:pt modelId="{55E81D62-0D16-4A1D-BB18-B03C3009A077}" type="parTrans" cxnId="{68FE4282-3CEE-4883-8572-F27D8211549C}">
      <dgm:prSet/>
      <dgm:spPr/>
      <dgm:t>
        <a:bodyPr/>
        <a:lstStyle/>
        <a:p>
          <a:endParaRPr lang="en-US"/>
        </a:p>
      </dgm:t>
    </dgm:pt>
    <dgm:pt modelId="{B0DD88B6-EBDE-4727-BDA9-06D36E21969E}" type="sibTrans" cxnId="{68FE4282-3CEE-4883-8572-F27D8211549C}">
      <dgm:prSet/>
      <dgm:spPr/>
      <dgm:t>
        <a:bodyPr/>
        <a:lstStyle/>
        <a:p>
          <a:endParaRPr lang="en-US"/>
        </a:p>
      </dgm:t>
    </dgm:pt>
    <dgm:pt modelId="{C4C8E934-3BBD-44A0-88BC-7C54F1C2205F}">
      <dgm:prSet/>
      <dgm:spPr/>
      <dgm:t>
        <a:bodyPr/>
        <a:lstStyle/>
        <a:p>
          <a:r>
            <a:rPr lang="en-US" b="0" i="0" baseline="0"/>
            <a:t>Salary averaged for each experience level</a:t>
          </a:r>
          <a:endParaRPr lang="en-US"/>
        </a:p>
      </dgm:t>
    </dgm:pt>
    <dgm:pt modelId="{BDA244B6-2B5F-4BD3-8659-F62592B08867}" type="parTrans" cxnId="{F2CDBF8E-6A2C-4998-833D-35B97FD8E4C5}">
      <dgm:prSet/>
      <dgm:spPr/>
      <dgm:t>
        <a:bodyPr/>
        <a:lstStyle/>
        <a:p>
          <a:endParaRPr lang="en-US"/>
        </a:p>
      </dgm:t>
    </dgm:pt>
    <dgm:pt modelId="{85360404-D133-4838-A7E8-12618C2D1D54}" type="sibTrans" cxnId="{F2CDBF8E-6A2C-4998-833D-35B97FD8E4C5}">
      <dgm:prSet/>
      <dgm:spPr/>
      <dgm:t>
        <a:bodyPr/>
        <a:lstStyle/>
        <a:p>
          <a:endParaRPr lang="en-US"/>
        </a:p>
      </dgm:t>
    </dgm:pt>
    <dgm:pt modelId="{E0602774-4F97-4948-B546-898FE60C41AB}">
      <dgm:prSet/>
      <dgm:spPr/>
      <dgm:t>
        <a:bodyPr/>
        <a:lstStyle/>
        <a:p>
          <a:r>
            <a:rPr lang="en-US" b="0" i="0" baseline="0"/>
            <a:t>Skills separated and counted for frequency chart</a:t>
          </a:r>
          <a:endParaRPr lang="en-US"/>
        </a:p>
      </dgm:t>
    </dgm:pt>
    <dgm:pt modelId="{0B901EDE-2A6C-42E2-BD4B-C69755E51B58}" type="parTrans" cxnId="{C749D373-B27E-4657-8D00-6CAF452F9D63}">
      <dgm:prSet/>
      <dgm:spPr/>
      <dgm:t>
        <a:bodyPr/>
        <a:lstStyle/>
        <a:p>
          <a:endParaRPr lang="en-US"/>
        </a:p>
      </dgm:t>
    </dgm:pt>
    <dgm:pt modelId="{3FE9C7AD-E9CC-420F-896E-36F0CD934F07}" type="sibTrans" cxnId="{C749D373-B27E-4657-8D00-6CAF452F9D63}">
      <dgm:prSet/>
      <dgm:spPr/>
      <dgm:t>
        <a:bodyPr/>
        <a:lstStyle/>
        <a:p>
          <a:endParaRPr lang="en-US"/>
        </a:p>
      </dgm:t>
    </dgm:pt>
    <dgm:pt modelId="{742ED49E-43CE-40B3-8AC1-A8BE3D562748}" type="pres">
      <dgm:prSet presAssocID="{C9A70711-A7F8-4338-91A7-A8CFCC1C8BE1}" presName="hierChild1" presStyleCnt="0">
        <dgm:presLayoutVars>
          <dgm:chPref val="1"/>
          <dgm:dir/>
          <dgm:animOne val="branch"/>
          <dgm:animLvl val="lvl"/>
          <dgm:resizeHandles/>
        </dgm:presLayoutVars>
      </dgm:prSet>
      <dgm:spPr/>
    </dgm:pt>
    <dgm:pt modelId="{537014DA-AFFD-4854-AB22-12F7307B0005}" type="pres">
      <dgm:prSet presAssocID="{B114D82E-6532-4A4A-8936-9040AF2ABB5E}" presName="hierRoot1" presStyleCnt="0"/>
      <dgm:spPr/>
    </dgm:pt>
    <dgm:pt modelId="{F16BFC2A-6254-4213-A476-7B62B76278A2}" type="pres">
      <dgm:prSet presAssocID="{B114D82E-6532-4A4A-8936-9040AF2ABB5E}" presName="composite" presStyleCnt="0"/>
      <dgm:spPr/>
    </dgm:pt>
    <dgm:pt modelId="{529F9B6D-D8B8-4084-BDB8-FA9C8252A9F8}" type="pres">
      <dgm:prSet presAssocID="{B114D82E-6532-4A4A-8936-9040AF2ABB5E}" presName="background" presStyleLbl="node0" presStyleIdx="0" presStyleCnt="4"/>
      <dgm:spPr/>
    </dgm:pt>
    <dgm:pt modelId="{2D16E5B3-81AC-46D1-A8EA-0C80280C3327}" type="pres">
      <dgm:prSet presAssocID="{B114D82E-6532-4A4A-8936-9040AF2ABB5E}" presName="text" presStyleLbl="fgAcc0" presStyleIdx="0" presStyleCnt="4">
        <dgm:presLayoutVars>
          <dgm:chPref val="3"/>
        </dgm:presLayoutVars>
      </dgm:prSet>
      <dgm:spPr/>
    </dgm:pt>
    <dgm:pt modelId="{315BC812-4F0E-4E6C-93B8-702C2992BFA2}" type="pres">
      <dgm:prSet presAssocID="{B114D82E-6532-4A4A-8936-9040AF2ABB5E}" presName="hierChild2" presStyleCnt="0"/>
      <dgm:spPr/>
    </dgm:pt>
    <dgm:pt modelId="{8F51BFD0-66EB-41F1-97DC-BE7C9B156EFF}" type="pres">
      <dgm:prSet presAssocID="{98CC1E51-C538-4F7F-A75B-03040C3B8FD0}" presName="hierRoot1" presStyleCnt="0"/>
      <dgm:spPr/>
    </dgm:pt>
    <dgm:pt modelId="{2E0F9F8C-9D41-4A4A-BAD1-828B96715391}" type="pres">
      <dgm:prSet presAssocID="{98CC1E51-C538-4F7F-A75B-03040C3B8FD0}" presName="composite" presStyleCnt="0"/>
      <dgm:spPr/>
    </dgm:pt>
    <dgm:pt modelId="{3AB4A9D7-F8F6-4687-BA6A-5AC9512F8392}" type="pres">
      <dgm:prSet presAssocID="{98CC1E51-C538-4F7F-A75B-03040C3B8FD0}" presName="background" presStyleLbl="node0" presStyleIdx="1" presStyleCnt="4"/>
      <dgm:spPr/>
    </dgm:pt>
    <dgm:pt modelId="{A0E3D2A7-A6F3-4709-8636-411B09E441C1}" type="pres">
      <dgm:prSet presAssocID="{98CC1E51-C538-4F7F-A75B-03040C3B8FD0}" presName="text" presStyleLbl="fgAcc0" presStyleIdx="1" presStyleCnt="4">
        <dgm:presLayoutVars>
          <dgm:chPref val="3"/>
        </dgm:presLayoutVars>
      </dgm:prSet>
      <dgm:spPr/>
    </dgm:pt>
    <dgm:pt modelId="{CFB5CC09-DABE-44D2-ADD7-DF416AC74798}" type="pres">
      <dgm:prSet presAssocID="{98CC1E51-C538-4F7F-A75B-03040C3B8FD0}" presName="hierChild2" presStyleCnt="0"/>
      <dgm:spPr/>
    </dgm:pt>
    <dgm:pt modelId="{5D9ACA66-71AC-451C-BEFD-ECBE440560AF}" type="pres">
      <dgm:prSet presAssocID="{C4C8E934-3BBD-44A0-88BC-7C54F1C2205F}" presName="hierRoot1" presStyleCnt="0"/>
      <dgm:spPr/>
    </dgm:pt>
    <dgm:pt modelId="{C6CA89A8-4250-4CCF-82F5-3FA262AC003B}" type="pres">
      <dgm:prSet presAssocID="{C4C8E934-3BBD-44A0-88BC-7C54F1C2205F}" presName="composite" presStyleCnt="0"/>
      <dgm:spPr/>
    </dgm:pt>
    <dgm:pt modelId="{8D9C04C2-7F1E-40C1-8D4F-019CB73C5637}" type="pres">
      <dgm:prSet presAssocID="{C4C8E934-3BBD-44A0-88BC-7C54F1C2205F}" presName="background" presStyleLbl="node0" presStyleIdx="2" presStyleCnt="4"/>
      <dgm:spPr/>
    </dgm:pt>
    <dgm:pt modelId="{8BE67A79-E839-4543-9EAB-A87357BD8B0A}" type="pres">
      <dgm:prSet presAssocID="{C4C8E934-3BBD-44A0-88BC-7C54F1C2205F}" presName="text" presStyleLbl="fgAcc0" presStyleIdx="2" presStyleCnt="4">
        <dgm:presLayoutVars>
          <dgm:chPref val="3"/>
        </dgm:presLayoutVars>
      </dgm:prSet>
      <dgm:spPr/>
    </dgm:pt>
    <dgm:pt modelId="{CBBDD595-30D7-45D1-9F2C-884B650EB38A}" type="pres">
      <dgm:prSet presAssocID="{C4C8E934-3BBD-44A0-88BC-7C54F1C2205F}" presName="hierChild2" presStyleCnt="0"/>
      <dgm:spPr/>
    </dgm:pt>
    <dgm:pt modelId="{F7B4F462-2F3D-4DE7-A0AB-A72C1A1330FE}" type="pres">
      <dgm:prSet presAssocID="{E0602774-4F97-4948-B546-898FE60C41AB}" presName="hierRoot1" presStyleCnt="0"/>
      <dgm:spPr/>
    </dgm:pt>
    <dgm:pt modelId="{03C4893E-5A4E-4BCA-A1FC-75BB98614FE8}" type="pres">
      <dgm:prSet presAssocID="{E0602774-4F97-4948-B546-898FE60C41AB}" presName="composite" presStyleCnt="0"/>
      <dgm:spPr/>
    </dgm:pt>
    <dgm:pt modelId="{A666A976-C7F1-4AFA-829F-AB434475C3BD}" type="pres">
      <dgm:prSet presAssocID="{E0602774-4F97-4948-B546-898FE60C41AB}" presName="background" presStyleLbl="node0" presStyleIdx="3" presStyleCnt="4"/>
      <dgm:spPr/>
    </dgm:pt>
    <dgm:pt modelId="{BEE1DFC2-550A-4921-9A32-3D6FCFB1BE89}" type="pres">
      <dgm:prSet presAssocID="{E0602774-4F97-4948-B546-898FE60C41AB}" presName="text" presStyleLbl="fgAcc0" presStyleIdx="3" presStyleCnt="4">
        <dgm:presLayoutVars>
          <dgm:chPref val="3"/>
        </dgm:presLayoutVars>
      </dgm:prSet>
      <dgm:spPr/>
    </dgm:pt>
    <dgm:pt modelId="{A51F1316-CAEF-4691-83F0-882E4BDE0F89}" type="pres">
      <dgm:prSet presAssocID="{E0602774-4F97-4948-B546-898FE60C41AB}" presName="hierChild2" presStyleCnt="0"/>
      <dgm:spPr/>
    </dgm:pt>
  </dgm:ptLst>
  <dgm:cxnLst>
    <dgm:cxn modelId="{6E998C12-1EDF-4E44-ABA1-52387B570C54}" srcId="{C9A70711-A7F8-4338-91A7-A8CFCC1C8BE1}" destId="{B114D82E-6532-4A4A-8936-9040AF2ABB5E}" srcOrd="0" destOrd="0" parTransId="{665EE030-0A82-4022-8619-7B5B8F6DFE99}" sibTransId="{59511852-8D7C-41A7-B2A3-1AE0B27E0E4C}"/>
    <dgm:cxn modelId="{8D61A03D-E3AF-4370-B1DB-7E8C652238DD}" type="presOf" srcId="{B114D82E-6532-4A4A-8936-9040AF2ABB5E}" destId="{2D16E5B3-81AC-46D1-A8EA-0C80280C3327}" srcOrd="0" destOrd="0" presId="urn:microsoft.com/office/officeart/2005/8/layout/hierarchy1"/>
    <dgm:cxn modelId="{A190085F-5DC7-4A31-A48D-7033923D0A2E}" type="presOf" srcId="{C9A70711-A7F8-4338-91A7-A8CFCC1C8BE1}" destId="{742ED49E-43CE-40B3-8AC1-A8BE3D562748}" srcOrd="0" destOrd="0" presId="urn:microsoft.com/office/officeart/2005/8/layout/hierarchy1"/>
    <dgm:cxn modelId="{D7BFC84A-C16B-411C-BDD8-B9EBD0EA917F}" type="presOf" srcId="{E0602774-4F97-4948-B546-898FE60C41AB}" destId="{BEE1DFC2-550A-4921-9A32-3D6FCFB1BE89}" srcOrd="0" destOrd="0" presId="urn:microsoft.com/office/officeart/2005/8/layout/hierarchy1"/>
    <dgm:cxn modelId="{C749D373-B27E-4657-8D00-6CAF452F9D63}" srcId="{C9A70711-A7F8-4338-91A7-A8CFCC1C8BE1}" destId="{E0602774-4F97-4948-B546-898FE60C41AB}" srcOrd="3" destOrd="0" parTransId="{0B901EDE-2A6C-42E2-BD4B-C69755E51B58}" sibTransId="{3FE9C7AD-E9CC-420F-896E-36F0CD934F07}"/>
    <dgm:cxn modelId="{2673CE7C-4323-4FEE-BBAB-08D917BD8EDE}" type="presOf" srcId="{C4C8E934-3BBD-44A0-88BC-7C54F1C2205F}" destId="{8BE67A79-E839-4543-9EAB-A87357BD8B0A}" srcOrd="0" destOrd="0" presId="urn:microsoft.com/office/officeart/2005/8/layout/hierarchy1"/>
    <dgm:cxn modelId="{68FE4282-3CEE-4883-8572-F27D8211549C}" srcId="{C9A70711-A7F8-4338-91A7-A8CFCC1C8BE1}" destId="{98CC1E51-C538-4F7F-A75B-03040C3B8FD0}" srcOrd="1" destOrd="0" parTransId="{55E81D62-0D16-4A1D-BB18-B03C3009A077}" sibTransId="{B0DD88B6-EBDE-4727-BDA9-06D36E21969E}"/>
    <dgm:cxn modelId="{F2CDBF8E-6A2C-4998-833D-35B97FD8E4C5}" srcId="{C9A70711-A7F8-4338-91A7-A8CFCC1C8BE1}" destId="{C4C8E934-3BBD-44A0-88BC-7C54F1C2205F}" srcOrd="2" destOrd="0" parTransId="{BDA244B6-2B5F-4BD3-8659-F62592B08867}" sibTransId="{85360404-D133-4838-A7E8-12618C2D1D54}"/>
    <dgm:cxn modelId="{BEF4F2D3-65FB-44BB-AA9D-6FC681421DF3}" type="presOf" srcId="{98CC1E51-C538-4F7F-A75B-03040C3B8FD0}" destId="{A0E3D2A7-A6F3-4709-8636-411B09E441C1}" srcOrd="0" destOrd="0" presId="urn:microsoft.com/office/officeart/2005/8/layout/hierarchy1"/>
    <dgm:cxn modelId="{72DAC77C-F01C-42B5-B652-91D8FCB8AD52}" type="presParOf" srcId="{742ED49E-43CE-40B3-8AC1-A8BE3D562748}" destId="{537014DA-AFFD-4854-AB22-12F7307B0005}" srcOrd="0" destOrd="0" presId="urn:microsoft.com/office/officeart/2005/8/layout/hierarchy1"/>
    <dgm:cxn modelId="{C877013E-9022-48EF-97EE-E10BE900D3E7}" type="presParOf" srcId="{537014DA-AFFD-4854-AB22-12F7307B0005}" destId="{F16BFC2A-6254-4213-A476-7B62B76278A2}" srcOrd="0" destOrd="0" presId="urn:microsoft.com/office/officeart/2005/8/layout/hierarchy1"/>
    <dgm:cxn modelId="{B0C6DD04-C944-4645-B10C-042C74265A65}" type="presParOf" srcId="{F16BFC2A-6254-4213-A476-7B62B76278A2}" destId="{529F9B6D-D8B8-4084-BDB8-FA9C8252A9F8}" srcOrd="0" destOrd="0" presId="urn:microsoft.com/office/officeart/2005/8/layout/hierarchy1"/>
    <dgm:cxn modelId="{D664091E-DCB4-448B-BA9A-68892055AEFF}" type="presParOf" srcId="{F16BFC2A-6254-4213-A476-7B62B76278A2}" destId="{2D16E5B3-81AC-46D1-A8EA-0C80280C3327}" srcOrd="1" destOrd="0" presId="urn:microsoft.com/office/officeart/2005/8/layout/hierarchy1"/>
    <dgm:cxn modelId="{4A1F7853-C61D-4319-9643-9B6DF1E5B104}" type="presParOf" srcId="{537014DA-AFFD-4854-AB22-12F7307B0005}" destId="{315BC812-4F0E-4E6C-93B8-702C2992BFA2}" srcOrd="1" destOrd="0" presId="urn:microsoft.com/office/officeart/2005/8/layout/hierarchy1"/>
    <dgm:cxn modelId="{B8F76DE9-5FD3-4414-83DE-7F6447B785BE}" type="presParOf" srcId="{742ED49E-43CE-40B3-8AC1-A8BE3D562748}" destId="{8F51BFD0-66EB-41F1-97DC-BE7C9B156EFF}" srcOrd="1" destOrd="0" presId="urn:microsoft.com/office/officeart/2005/8/layout/hierarchy1"/>
    <dgm:cxn modelId="{106FBF06-0D99-40EC-BCEF-399313C89B6F}" type="presParOf" srcId="{8F51BFD0-66EB-41F1-97DC-BE7C9B156EFF}" destId="{2E0F9F8C-9D41-4A4A-BAD1-828B96715391}" srcOrd="0" destOrd="0" presId="urn:microsoft.com/office/officeart/2005/8/layout/hierarchy1"/>
    <dgm:cxn modelId="{A995FB7C-A811-490B-AAAB-B23A5244C31A}" type="presParOf" srcId="{2E0F9F8C-9D41-4A4A-BAD1-828B96715391}" destId="{3AB4A9D7-F8F6-4687-BA6A-5AC9512F8392}" srcOrd="0" destOrd="0" presId="urn:microsoft.com/office/officeart/2005/8/layout/hierarchy1"/>
    <dgm:cxn modelId="{CE2A9FBF-C3F6-45B7-A15B-B95C219DE933}" type="presParOf" srcId="{2E0F9F8C-9D41-4A4A-BAD1-828B96715391}" destId="{A0E3D2A7-A6F3-4709-8636-411B09E441C1}" srcOrd="1" destOrd="0" presId="urn:microsoft.com/office/officeart/2005/8/layout/hierarchy1"/>
    <dgm:cxn modelId="{300E4B81-72FF-4747-B4AB-7263CCB39F61}" type="presParOf" srcId="{8F51BFD0-66EB-41F1-97DC-BE7C9B156EFF}" destId="{CFB5CC09-DABE-44D2-ADD7-DF416AC74798}" srcOrd="1" destOrd="0" presId="urn:microsoft.com/office/officeart/2005/8/layout/hierarchy1"/>
    <dgm:cxn modelId="{BE7A2803-056C-452D-B92F-C3737BC10A74}" type="presParOf" srcId="{742ED49E-43CE-40B3-8AC1-A8BE3D562748}" destId="{5D9ACA66-71AC-451C-BEFD-ECBE440560AF}" srcOrd="2" destOrd="0" presId="urn:microsoft.com/office/officeart/2005/8/layout/hierarchy1"/>
    <dgm:cxn modelId="{9877F9BE-9033-437B-ADEA-01405316F082}" type="presParOf" srcId="{5D9ACA66-71AC-451C-BEFD-ECBE440560AF}" destId="{C6CA89A8-4250-4CCF-82F5-3FA262AC003B}" srcOrd="0" destOrd="0" presId="urn:microsoft.com/office/officeart/2005/8/layout/hierarchy1"/>
    <dgm:cxn modelId="{76B3936A-AB68-4B22-B57E-5EE938FA126C}" type="presParOf" srcId="{C6CA89A8-4250-4CCF-82F5-3FA262AC003B}" destId="{8D9C04C2-7F1E-40C1-8D4F-019CB73C5637}" srcOrd="0" destOrd="0" presId="urn:microsoft.com/office/officeart/2005/8/layout/hierarchy1"/>
    <dgm:cxn modelId="{298B4F50-02AC-47B4-8C41-0694977BFB1D}" type="presParOf" srcId="{C6CA89A8-4250-4CCF-82F5-3FA262AC003B}" destId="{8BE67A79-E839-4543-9EAB-A87357BD8B0A}" srcOrd="1" destOrd="0" presId="urn:microsoft.com/office/officeart/2005/8/layout/hierarchy1"/>
    <dgm:cxn modelId="{5177C335-66B0-40A9-89A2-B2F3BF30A1EE}" type="presParOf" srcId="{5D9ACA66-71AC-451C-BEFD-ECBE440560AF}" destId="{CBBDD595-30D7-45D1-9F2C-884B650EB38A}" srcOrd="1" destOrd="0" presId="urn:microsoft.com/office/officeart/2005/8/layout/hierarchy1"/>
    <dgm:cxn modelId="{E18F2824-43F3-4257-B085-03CC8FFB19E6}" type="presParOf" srcId="{742ED49E-43CE-40B3-8AC1-A8BE3D562748}" destId="{F7B4F462-2F3D-4DE7-A0AB-A72C1A1330FE}" srcOrd="3" destOrd="0" presId="urn:microsoft.com/office/officeart/2005/8/layout/hierarchy1"/>
    <dgm:cxn modelId="{5298CD90-80CD-496F-AE7C-FD008F8C321A}" type="presParOf" srcId="{F7B4F462-2F3D-4DE7-A0AB-A72C1A1330FE}" destId="{03C4893E-5A4E-4BCA-A1FC-75BB98614FE8}" srcOrd="0" destOrd="0" presId="urn:microsoft.com/office/officeart/2005/8/layout/hierarchy1"/>
    <dgm:cxn modelId="{0653DF4B-8472-4B0B-9CFF-7F53EE8C288D}" type="presParOf" srcId="{03C4893E-5A4E-4BCA-A1FC-75BB98614FE8}" destId="{A666A976-C7F1-4AFA-829F-AB434475C3BD}" srcOrd="0" destOrd="0" presId="urn:microsoft.com/office/officeart/2005/8/layout/hierarchy1"/>
    <dgm:cxn modelId="{FED820B3-CCB1-4308-BB57-5F37131A0429}" type="presParOf" srcId="{03C4893E-5A4E-4BCA-A1FC-75BB98614FE8}" destId="{BEE1DFC2-550A-4921-9A32-3D6FCFB1BE89}" srcOrd="1" destOrd="0" presId="urn:microsoft.com/office/officeart/2005/8/layout/hierarchy1"/>
    <dgm:cxn modelId="{4F63B820-A11D-467A-B344-32613B00ED98}" type="presParOf" srcId="{F7B4F462-2F3D-4DE7-A0AB-A72C1A1330FE}" destId="{A51F1316-CAEF-4691-83F0-882E4BDE0F8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239359-AC71-40EA-805C-DE094E6E8AF1}"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D287D32-C244-483A-B556-41736676FC0A}">
      <dgm:prSet/>
      <dgm:spPr/>
      <dgm:t>
        <a:bodyPr/>
        <a:lstStyle/>
        <a:p>
          <a:pPr>
            <a:lnSpc>
              <a:spcPct val="100000"/>
            </a:lnSpc>
          </a:pPr>
          <a:r>
            <a:rPr lang="en-US" b="0" i="0" baseline="0"/>
            <a:t>Job postings stayed high, with peak around April 2024</a:t>
          </a:r>
          <a:endParaRPr lang="en-US"/>
        </a:p>
      </dgm:t>
    </dgm:pt>
    <dgm:pt modelId="{C5F64311-CF4D-453B-8CD1-8FDC57BD4072}" type="parTrans" cxnId="{F5D06889-B782-4AC8-921B-92124AC41375}">
      <dgm:prSet/>
      <dgm:spPr/>
      <dgm:t>
        <a:bodyPr/>
        <a:lstStyle/>
        <a:p>
          <a:endParaRPr lang="en-US"/>
        </a:p>
      </dgm:t>
    </dgm:pt>
    <dgm:pt modelId="{7FFD2043-EEC6-4C1B-AB73-ACFE8D074C1F}" type="sibTrans" cxnId="{F5D06889-B782-4AC8-921B-92124AC41375}">
      <dgm:prSet/>
      <dgm:spPr/>
      <dgm:t>
        <a:bodyPr/>
        <a:lstStyle/>
        <a:p>
          <a:endParaRPr lang="en-US"/>
        </a:p>
      </dgm:t>
    </dgm:pt>
    <dgm:pt modelId="{8BF6BE02-DC15-4FAB-8F6A-88D7EF0DABDC}">
      <dgm:prSet/>
      <dgm:spPr/>
      <dgm:t>
        <a:bodyPr/>
        <a:lstStyle/>
        <a:p>
          <a:pPr>
            <a:lnSpc>
              <a:spcPct val="100000"/>
            </a:lnSpc>
          </a:pPr>
          <a:r>
            <a:rPr lang="en-US" b="0" i="0" baseline="0"/>
            <a:t>Executive salaries highest, entry salaries lowest</a:t>
          </a:r>
          <a:endParaRPr lang="en-US"/>
        </a:p>
      </dgm:t>
    </dgm:pt>
    <dgm:pt modelId="{D919FECD-D5AF-4C06-B6CB-C7B5F0FC5DC7}" type="parTrans" cxnId="{FEEF725D-25AD-4D9D-B4E3-F51FBF1E1F76}">
      <dgm:prSet/>
      <dgm:spPr/>
      <dgm:t>
        <a:bodyPr/>
        <a:lstStyle/>
        <a:p>
          <a:endParaRPr lang="en-US"/>
        </a:p>
      </dgm:t>
    </dgm:pt>
    <dgm:pt modelId="{A12AD4C7-4275-4967-A9F5-77BAD1911D2F}" type="sibTrans" cxnId="{FEEF725D-25AD-4D9D-B4E3-F51FBF1E1F76}">
      <dgm:prSet/>
      <dgm:spPr/>
      <dgm:t>
        <a:bodyPr/>
        <a:lstStyle/>
        <a:p>
          <a:endParaRPr lang="en-US"/>
        </a:p>
      </dgm:t>
    </dgm:pt>
    <dgm:pt modelId="{B37F7A85-072A-4F4F-8C54-0F4C09B7FAE7}">
      <dgm:prSet/>
      <dgm:spPr/>
      <dgm:t>
        <a:bodyPr/>
        <a:lstStyle/>
        <a:p>
          <a:pPr>
            <a:lnSpc>
              <a:spcPct val="100000"/>
            </a:lnSpc>
          </a:pPr>
          <a:r>
            <a:rPr lang="en-US" b="0" i="0" baseline="0"/>
            <a:t>Python, SQL, and TensorFlow most requested skills</a:t>
          </a:r>
          <a:endParaRPr lang="en-US"/>
        </a:p>
      </dgm:t>
    </dgm:pt>
    <dgm:pt modelId="{9CF41782-237A-4CCD-845E-4436130C524C}" type="parTrans" cxnId="{82EB70AA-DB76-40F1-97C8-27B96960A441}">
      <dgm:prSet/>
      <dgm:spPr/>
      <dgm:t>
        <a:bodyPr/>
        <a:lstStyle/>
        <a:p>
          <a:endParaRPr lang="en-US"/>
        </a:p>
      </dgm:t>
    </dgm:pt>
    <dgm:pt modelId="{B05D4FE3-9ED1-49DF-B4DF-DD63AC58E108}" type="sibTrans" cxnId="{82EB70AA-DB76-40F1-97C8-27B96960A441}">
      <dgm:prSet/>
      <dgm:spPr/>
      <dgm:t>
        <a:bodyPr/>
        <a:lstStyle/>
        <a:p>
          <a:endParaRPr lang="en-US"/>
        </a:p>
      </dgm:t>
    </dgm:pt>
    <dgm:pt modelId="{2288C2AB-82EE-49F6-A43A-75D629B48F5D}">
      <dgm:prSet/>
      <dgm:spPr/>
      <dgm:t>
        <a:bodyPr/>
        <a:lstStyle/>
        <a:p>
          <a:pPr>
            <a:lnSpc>
              <a:spcPct val="100000"/>
            </a:lnSpc>
          </a:pPr>
          <a:r>
            <a:rPr lang="en-US" b="0" i="0" baseline="0"/>
            <a:t>Visualizations show clear hiring and salary patterns</a:t>
          </a:r>
          <a:endParaRPr lang="en-US"/>
        </a:p>
      </dgm:t>
    </dgm:pt>
    <dgm:pt modelId="{2D457134-F5F2-41FD-A9C6-BDC077B0D698}" type="parTrans" cxnId="{2070DEA3-86F2-45A8-B581-9C5EA1B350C6}">
      <dgm:prSet/>
      <dgm:spPr/>
      <dgm:t>
        <a:bodyPr/>
        <a:lstStyle/>
        <a:p>
          <a:endParaRPr lang="en-US"/>
        </a:p>
      </dgm:t>
    </dgm:pt>
    <dgm:pt modelId="{EAF0AF8A-8515-48CF-B0E9-98EA44FB0828}" type="sibTrans" cxnId="{2070DEA3-86F2-45A8-B581-9C5EA1B350C6}">
      <dgm:prSet/>
      <dgm:spPr/>
      <dgm:t>
        <a:bodyPr/>
        <a:lstStyle/>
        <a:p>
          <a:endParaRPr lang="en-US"/>
        </a:p>
      </dgm:t>
    </dgm:pt>
    <dgm:pt modelId="{2CCEF126-F336-4EA8-9E06-474A8CB2EBCF}" type="pres">
      <dgm:prSet presAssocID="{89239359-AC71-40EA-805C-DE094E6E8AF1}" presName="root" presStyleCnt="0">
        <dgm:presLayoutVars>
          <dgm:dir/>
          <dgm:resizeHandles val="exact"/>
        </dgm:presLayoutVars>
      </dgm:prSet>
      <dgm:spPr/>
    </dgm:pt>
    <dgm:pt modelId="{E216E9ED-7D71-4A3D-A21B-3D3456FCBA27}" type="pres">
      <dgm:prSet presAssocID="{0D287D32-C244-483A-B556-41736676FC0A}" presName="compNode" presStyleCnt="0"/>
      <dgm:spPr/>
    </dgm:pt>
    <dgm:pt modelId="{24D41ED6-CA5E-442E-A488-43AEFE9ED491}" type="pres">
      <dgm:prSet presAssocID="{0D287D32-C244-483A-B556-41736676FC0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untains"/>
        </a:ext>
      </dgm:extLst>
    </dgm:pt>
    <dgm:pt modelId="{969AF4EC-A0DB-4188-B5C9-20D61646CA84}" type="pres">
      <dgm:prSet presAssocID="{0D287D32-C244-483A-B556-41736676FC0A}" presName="spaceRect" presStyleCnt="0"/>
      <dgm:spPr/>
    </dgm:pt>
    <dgm:pt modelId="{1330A086-340B-41A3-B11A-C0C4FB1CA6BC}" type="pres">
      <dgm:prSet presAssocID="{0D287D32-C244-483A-B556-41736676FC0A}" presName="textRect" presStyleLbl="revTx" presStyleIdx="0" presStyleCnt="4">
        <dgm:presLayoutVars>
          <dgm:chMax val="1"/>
          <dgm:chPref val="1"/>
        </dgm:presLayoutVars>
      </dgm:prSet>
      <dgm:spPr/>
    </dgm:pt>
    <dgm:pt modelId="{2BC8C6FE-3D2A-44C2-B6E1-FA1197BF08CE}" type="pres">
      <dgm:prSet presAssocID="{7FFD2043-EEC6-4C1B-AB73-ACFE8D074C1F}" presName="sibTrans" presStyleCnt="0"/>
      <dgm:spPr/>
    </dgm:pt>
    <dgm:pt modelId="{D17F3F86-0FCD-4245-8B2D-5C20676C366A}" type="pres">
      <dgm:prSet presAssocID="{8BF6BE02-DC15-4FAB-8F6A-88D7EF0DABDC}" presName="compNode" presStyleCnt="0"/>
      <dgm:spPr/>
    </dgm:pt>
    <dgm:pt modelId="{0D896951-0D24-488D-9970-80293CEED27C}" type="pres">
      <dgm:prSet presAssocID="{8BF6BE02-DC15-4FAB-8F6A-88D7EF0DABD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55F3417C-8D86-464A-A86B-DE7867D319D3}" type="pres">
      <dgm:prSet presAssocID="{8BF6BE02-DC15-4FAB-8F6A-88D7EF0DABDC}" presName="spaceRect" presStyleCnt="0"/>
      <dgm:spPr/>
    </dgm:pt>
    <dgm:pt modelId="{7B8A1620-41B5-4C4F-B133-4864D2ECF965}" type="pres">
      <dgm:prSet presAssocID="{8BF6BE02-DC15-4FAB-8F6A-88D7EF0DABDC}" presName="textRect" presStyleLbl="revTx" presStyleIdx="1" presStyleCnt="4">
        <dgm:presLayoutVars>
          <dgm:chMax val="1"/>
          <dgm:chPref val="1"/>
        </dgm:presLayoutVars>
      </dgm:prSet>
      <dgm:spPr/>
    </dgm:pt>
    <dgm:pt modelId="{807F62A5-BD7A-4CCF-9748-11E81FFE2624}" type="pres">
      <dgm:prSet presAssocID="{A12AD4C7-4275-4967-A9F5-77BAD1911D2F}" presName="sibTrans" presStyleCnt="0"/>
      <dgm:spPr/>
    </dgm:pt>
    <dgm:pt modelId="{1F41C596-4B74-4376-A522-0FBAD84F3DB6}" type="pres">
      <dgm:prSet presAssocID="{B37F7A85-072A-4F4F-8C54-0F4C09B7FAE7}" presName="compNode" presStyleCnt="0"/>
      <dgm:spPr/>
    </dgm:pt>
    <dgm:pt modelId="{8461A455-75CB-4E5A-905B-66FA4B6B6B93}" type="pres">
      <dgm:prSet presAssocID="{B37F7A85-072A-4F4F-8C54-0F4C09B7FAE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F41A6E3A-6A88-411E-BF6C-7A1C980BDFAE}" type="pres">
      <dgm:prSet presAssocID="{B37F7A85-072A-4F4F-8C54-0F4C09B7FAE7}" presName="spaceRect" presStyleCnt="0"/>
      <dgm:spPr/>
    </dgm:pt>
    <dgm:pt modelId="{778D6072-FAFE-444D-B05E-B2D7EF96C5EB}" type="pres">
      <dgm:prSet presAssocID="{B37F7A85-072A-4F4F-8C54-0F4C09B7FAE7}" presName="textRect" presStyleLbl="revTx" presStyleIdx="2" presStyleCnt="4">
        <dgm:presLayoutVars>
          <dgm:chMax val="1"/>
          <dgm:chPref val="1"/>
        </dgm:presLayoutVars>
      </dgm:prSet>
      <dgm:spPr/>
    </dgm:pt>
    <dgm:pt modelId="{561A0707-CB42-4D3E-9C1E-507709F48A04}" type="pres">
      <dgm:prSet presAssocID="{B05D4FE3-9ED1-49DF-B4DF-DD63AC58E108}" presName="sibTrans" presStyleCnt="0"/>
      <dgm:spPr/>
    </dgm:pt>
    <dgm:pt modelId="{30A6C816-746F-40A0-84E1-2920FC71ABDD}" type="pres">
      <dgm:prSet presAssocID="{2288C2AB-82EE-49F6-A43A-75D629B48F5D}" presName="compNode" presStyleCnt="0"/>
      <dgm:spPr/>
    </dgm:pt>
    <dgm:pt modelId="{1B5C5F03-6CE5-4593-A14C-F4672916C5CC}" type="pres">
      <dgm:prSet presAssocID="{2288C2AB-82EE-49F6-A43A-75D629B48F5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603145A6-4BA5-48D3-9638-38F2E1E8363C}" type="pres">
      <dgm:prSet presAssocID="{2288C2AB-82EE-49F6-A43A-75D629B48F5D}" presName="spaceRect" presStyleCnt="0"/>
      <dgm:spPr/>
    </dgm:pt>
    <dgm:pt modelId="{7D7CD919-10CB-4908-B8FE-F67DA2986EE4}" type="pres">
      <dgm:prSet presAssocID="{2288C2AB-82EE-49F6-A43A-75D629B48F5D}" presName="textRect" presStyleLbl="revTx" presStyleIdx="3" presStyleCnt="4">
        <dgm:presLayoutVars>
          <dgm:chMax val="1"/>
          <dgm:chPref val="1"/>
        </dgm:presLayoutVars>
      </dgm:prSet>
      <dgm:spPr/>
    </dgm:pt>
  </dgm:ptLst>
  <dgm:cxnLst>
    <dgm:cxn modelId="{2988970C-0292-46C5-8185-29A91EF41BAF}" type="presOf" srcId="{89239359-AC71-40EA-805C-DE094E6E8AF1}" destId="{2CCEF126-F336-4EA8-9E06-474A8CB2EBCF}" srcOrd="0" destOrd="0" presId="urn:microsoft.com/office/officeart/2018/2/layout/IconLabelList"/>
    <dgm:cxn modelId="{FEEF725D-25AD-4D9D-B4E3-F51FBF1E1F76}" srcId="{89239359-AC71-40EA-805C-DE094E6E8AF1}" destId="{8BF6BE02-DC15-4FAB-8F6A-88D7EF0DABDC}" srcOrd="1" destOrd="0" parTransId="{D919FECD-D5AF-4C06-B6CB-C7B5F0FC5DC7}" sibTransId="{A12AD4C7-4275-4967-A9F5-77BAD1911D2F}"/>
    <dgm:cxn modelId="{0483C17C-DA7E-4FAF-AB26-148A6633785E}" type="presOf" srcId="{0D287D32-C244-483A-B556-41736676FC0A}" destId="{1330A086-340B-41A3-B11A-C0C4FB1CA6BC}" srcOrd="0" destOrd="0" presId="urn:microsoft.com/office/officeart/2018/2/layout/IconLabelList"/>
    <dgm:cxn modelId="{F5D06889-B782-4AC8-921B-92124AC41375}" srcId="{89239359-AC71-40EA-805C-DE094E6E8AF1}" destId="{0D287D32-C244-483A-B556-41736676FC0A}" srcOrd="0" destOrd="0" parTransId="{C5F64311-CF4D-453B-8CD1-8FDC57BD4072}" sibTransId="{7FFD2043-EEC6-4C1B-AB73-ACFE8D074C1F}"/>
    <dgm:cxn modelId="{DAE7EE8C-5021-404E-824A-D843BAA0B46C}" type="presOf" srcId="{2288C2AB-82EE-49F6-A43A-75D629B48F5D}" destId="{7D7CD919-10CB-4908-B8FE-F67DA2986EE4}" srcOrd="0" destOrd="0" presId="urn:microsoft.com/office/officeart/2018/2/layout/IconLabelList"/>
    <dgm:cxn modelId="{2070DEA3-86F2-45A8-B581-9C5EA1B350C6}" srcId="{89239359-AC71-40EA-805C-DE094E6E8AF1}" destId="{2288C2AB-82EE-49F6-A43A-75D629B48F5D}" srcOrd="3" destOrd="0" parTransId="{2D457134-F5F2-41FD-A9C6-BDC077B0D698}" sibTransId="{EAF0AF8A-8515-48CF-B0E9-98EA44FB0828}"/>
    <dgm:cxn modelId="{82EB70AA-DB76-40F1-97C8-27B96960A441}" srcId="{89239359-AC71-40EA-805C-DE094E6E8AF1}" destId="{B37F7A85-072A-4F4F-8C54-0F4C09B7FAE7}" srcOrd="2" destOrd="0" parTransId="{9CF41782-237A-4CCD-845E-4436130C524C}" sibTransId="{B05D4FE3-9ED1-49DF-B4DF-DD63AC58E108}"/>
    <dgm:cxn modelId="{FC8F2EB8-F313-4245-A3F0-A32498B7336A}" type="presOf" srcId="{B37F7A85-072A-4F4F-8C54-0F4C09B7FAE7}" destId="{778D6072-FAFE-444D-B05E-B2D7EF96C5EB}" srcOrd="0" destOrd="0" presId="urn:microsoft.com/office/officeart/2018/2/layout/IconLabelList"/>
    <dgm:cxn modelId="{98B87FFE-4E72-4540-BAED-5F1310285D0B}" type="presOf" srcId="{8BF6BE02-DC15-4FAB-8F6A-88D7EF0DABDC}" destId="{7B8A1620-41B5-4C4F-B133-4864D2ECF965}" srcOrd="0" destOrd="0" presId="urn:microsoft.com/office/officeart/2018/2/layout/IconLabelList"/>
    <dgm:cxn modelId="{A8D6C678-C747-48E7-AF92-8180A2711D72}" type="presParOf" srcId="{2CCEF126-F336-4EA8-9E06-474A8CB2EBCF}" destId="{E216E9ED-7D71-4A3D-A21B-3D3456FCBA27}" srcOrd="0" destOrd="0" presId="urn:microsoft.com/office/officeart/2018/2/layout/IconLabelList"/>
    <dgm:cxn modelId="{C1E00D83-61E1-44D0-BDDA-B5B607FC0149}" type="presParOf" srcId="{E216E9ED-7D71-4A3D-A21B-3D3456FCBA27}" destId="{24D41ED6-CA5E-442E-A488-43AEFE9ED491}" srcOrd="0" destOrd="0" presId="urn:microsoft.com/office/officeart/2018/2/layout/IconLabelList"/>
    <dgm:cxn modelId="{99E4D6DC-B2AD-418B-8214-1D8440175056}" type="presParOf" srcId="{E216E9ED-7D71-4A3D-A21B-3D3456FCBA27}" destId="{969AF4EC-A0DB-4188-B5C9-20D61646CA84}" srcOrd="1" destOrd="0" presId="urn:microsoft.com/office/officeart/2018/2/layout/IconLabelList"/>
    <dgm:cxn modelId="{8107AE24-ADC5-492E-AD7D-EA93B01C46E2}" type="presParOf" srcId="{E216E9ED-7D71-4A3D-A21B-3D3456FCBA27}" destId="{1330A086-340B-41A3-B11A-C0C4FB1CA6BC}" srcOrd="2" destOrd="0" presId="urn:microsoft.com/office/officeart/2018/2/layout/IconLabelList"/>
    <dgm:cxn modelId="{130C5280-2AC7-42AD-87B4-B4823F6A8A19}" type="presParOf" srcId="{2CCEF126-F336-4EA8-9E06-474A8CB2EBCF}" destId="{2BC8C6FE-3D2A-44C2-B6E1-FA1197BF08CE}" srcOrd="1" destOrd="0" presId="urn:microsoft.com/office/officeart/2018/2/layout/IconLabelList"/>
    <dgm:cxn modelId="{1202E0FC-78A3-43DE-B76F-4AD1DD288F3C}" type="presParOf" srcId="{2CCEF126-F336-4EA8-9E06-474A8CB2EBCF}" destId="{D17F3F86-0FCD-4245-8B2D-5C20676C366A}" srcOrd="2" destOrd="0" presId="urn:microsoft.com/office/officeart/2018/2/layout/IconLabelList"/>
    <dgm:cxn modelId="{475E69D9-4175-453B-84FF-9DF60EAA6CBB}" type="presParOf" srcId="{D17F3F86-0FCD-4245-8B2D-5C20676C366A}" destId="{0D896951-0D24-488D-9970-80293CEED27C}" srcOrd="0" destOrd="0" presId="urn:microsoft.com/office/officeart/2018/2/layout/IconLabelList"/>
    <dgm:cxn modelId="{9605DC0D-D6EF-49D2-B8F4-03A111D5F566}" type="presParOf" srcId="{D17F3F86-0FCD-4245-8B2D-5C20676C366A}" destId="{55F3417C-8D86-464A-A86B-DE7867D319D3}" srcOrd="1" destOrd="0" presId="urn:microsoft.com/office/officeart/2018/2/layout/IconLabelList"/>
    <dgm:cxn modelId="{5EEAD4D9-9C28-4ED1-B22F-D24772516DB6}" type="presParOf" srcId="{D17F3F86-0FCD-4245-8B2D-5C20676C366A}" destId="{7B8A1620-41B5-4C4F-B133-4864D2ECF965}" srcOrd="2" destOrd="0" presId="urn:microsoft.com/office/officeart/2018/2/layout/IconLabelList"/>
    <dgm:cxn modelId="{6FF36FBC-3AB6-4843-9144-09713D34D735}" type="presParOf" srcId="{2CCEF126-F336-4EA8-9E06-474A8CB2EBCF}" destId="{807F62A5-BD7A-4CCF-9748-11E81FFE2624}" srcOrd="3" destOrd="0" presId="urn:microsoft.com/office/officeart/2018/2/layout/IconLabelList"/>
    <dgm:cxn modelId="{00016DA5-F322-4115-8D74-F1A704EFD8C1}" type="presParOf" srcId="{2CCEF126-F336-4EA8-9E06-474A8CB2EBCF}" destId="{1F41C596-4B74-4376-A522-0FBAD84F3DB6}" srcOrd="4" destOrd="0" presId="urn:microsoft.com/office/officeart/2018/2/layout/IconLabelList"/>
    <dgm:cxn modelId="{9A9A5B93-124A-4794-932F-C09FA3BA43A4}" type="presParOf" srcId="{1F41C596-4B74-4376-A522-0FBAD84F3DB6}" destId="{8461A455-75CB-4E5A-905B-66FA4B6B6B93}" srcOrd="0" destOrd="0" presId="urn:microsoft.com/office/officeart/2018/2/layout/IconLabelList"/>
    <dgm:cxn modelId="{29DD8A70-900E-4F5A-9A7B-A0679B63611A}" type="presParOf" srcId="{1F41C596-4B74-4376-A522-0FBAD84F3DB6}" destId="{F41A6E3A-6A88-411E-BF6C-7A1C980BDFAE}" srcOrd="1" destOrd="0" presId="urn:microsoft.com/office/officeart/2018/2/layout/IconLabelList"/>
    <dgm:cxn modelId="{70015471-8BF4-4493-8FF1-0FA956BF62A1}" type="presParOf" srcId="{1F41C596-4B74-4376-A522-0FBAD84F3DB6}" destId="{778D6072-FAFE-444D-B05E-B2D7EF96C5EB}" srcOrd="2" destOrd="0" presId="urn:microsoft.com/office/officeart/2018/2/layout/IconLabelList"/>
    <dgm:cxn modelId="{11083A65-DABD-4C54-8915-38EBCCD92FA8}" type="presParOf" srcId="{2CCEF126-F336-4EA8-9E06-474A8CB2EBCF}" destId="{561A0707-CB42-4D3E-9C1E-507709F48A04}" srcOrd="5" destOrd="0" presId="urn:microsoft.com/office/officeart/2018/2/layout/IconLabelList"/>
    <dgm:cxn modelId="{D6D53198-98C0-499E-956D-999B6B1E7487}" type="presParOf" srcId="{2CCEF126-F336-4EA8-9E06-474A8CB2EBCF}" destId="{30A6C816-746F-40A0-84E1-2920FC71ABDD}" srcOrd="6" destOrd="0" presId="urn:microsoft.com/office/officeart/2018/2/layout/IconLabelList"/>
    <dgm:cxn modelId="{105FCD8F-8256-45A1-BE1B-C85ED3605747}" type="presParOf" srcId="{30A6C816-746F-40A0-84E1-2920FC71ABDD}" destId="{1B5C5F03-6CE5-4593-A14C-F4672916C5CC}" srcOrd="0" destOrd="0" presId="urn:microsoft.com/office/officeart/2018/2/layout/IconLabelList"/>
    <dgm:cxn modelId="{7EE2202B-82B1-423A-BC44-3AB5FBAA3C3E}" type="presParOf" srcId="{30A6C816-746F-40A0-84E1-2920FC71ABDD}" destId="{603145A6-4BA5-48D3-9638-38F2E1E8363C}" srcOrd="1" destOrd="0" presId="urn:microsoft.com/office/officeart/2018/2/layout/IconLabelList"/>
    <dgm:cxn modelId="{ED200D65-A328-4219-9890-457988D17E00}" type="presParOf" srcId="{30A6C816-746F-40A0-84E1-2920FC71ABDD}" destId="{7D7CD919-10CB-4908-B8FE-F67DA2986EE4}"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99561D0-6E09-4916-9544-A151149E0324}"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0A90EFE-24F7-48AC-B90F-6F6C2E79319F}">
      <dgm:prSet/>
      <dgm:spPr/>
      <dgm:t>
        <a:bodyPr/>
        <a:lstStyle/>
        <a:p>
          <a:pPr>
            <a:lnSpc>
              <a:spcPct val="100000"/>
            </a:lnSpc>
          </a:pPr>
          <a:r>
            <a:rPr lang="en-US" b="0" i="0" baseline="0"/>
            <a:t>AI job demand remained strong over time</a:t>
          </a:r>
          <a:endParaRPr lang="en-US"/>
        </a:p>
      </dgm:t>
    </dgm:pt>
    <dgm:pt modelId="{93C1E08B-4C8D-47D3-9C64-C8873BA23A8C}" type="parTrans" cxnId="{1BE3EA08-5350-4930-B674-876FD31008B4}">
      <dgm:prSet/>
      <dgm:spPr/>
      <dgm:t>
        <a:bodyPr/>
        <a:lstStyle/>
        <a:p>
          <a:endParaRPr lang="en-US"/>
        </a:p>
      </dgm:t>
    </dgm:pt>
    <dgm:pt modelId="{698568E4-6BE9-45D9-8752-F79FA50250D8}" type="sibTrans" cxnId="{1BE3EA08-5350-4930-B674-876FD31008B4}">
      <dgm:prSet/>
      <dgm:spPr/>
      <dgm:t>
        <a:bodyPr/>
        <a:lstStyle/>
        <a:p>
          <a:pPr>
            <a:lnSpc>
              <a:spcPct val="100000"/>
            </a:lnSpc>
          </a:pPr>
          <a:endParaRPr lang="en-US"/>
        </a:p>
      </dgm:t>
    </dgm:pt>
    <dgm:pt modelId="{A159FD23-7064-4423-887B-1BCCEF8B3EB8}">
      <dgm:prSet/>
      <dgm:spPr/>
      <dgm:t>
        <a:bodyPr/>
        <a:lstStyle/>
        <a:p>
          <a:pPr>
            <a:lnSpc>
              <a:spcPct val="100000"/>
            </a:lnSpc>
          </a:pPr>
          <a:r>
            <a:rPr lang="en-US" b="0" i="0" baseline="0"/>
            <a:t>Salary increases with experience level</a:t>
          </a:r>
          <a:endParaRPr lang="en-US"/>
        </a:p>
      </dgm:t>
    </dgm:pt>
    <dgm:pt modelId="{8952D7B3-E75D-4A6E-914F-95B1B278488C}" type="parTrans" cxnId="{6AC2D704-A76D-473A-96FF-8AE37054C954}">
      <dgm:prSet/>
      <dgm:spPr/>
      <dgm:t>
        <a:bodyPr/>
        <a:lstStyle/>
        <a:p>
          <a:endParaRPr lang="en-US"/>
        </a:p>
      </dgm:t>
    </dgm:pt>
    <dgm:pt modelId="{73293A5D-DD39-4EC6-ACC2-E9741DF32507}" type="sibTrans" cxnId="{6AC2D704-A76D-473A-96FF-8AE37054C954}">
      <dgm:prSet/>
      <dgm:spPr/>
      <dgm:t>
        <a:bodyPr/>
        <a:lstStyle/>
        <a:p>
          <a:pPr>
            <a:lnSpc>
              <a:spcPct val="100000"/>
            </a:lnSpc>
          </a:pPr>
          <a:endParaRPr lang="en-US"/>
        </a:p>
      </dgm:t>
    </dgm:pt>
    <dgm:pt modelId="{37033152-904F-4FDA-840B-D5A9CB463859}">
      <dgm:prSet/>
      <dgm:spPr/>
      <dgm:t>
        <a:bodyPr/>
        <a:lstStyle/>
        <a:p>
          <a:pPr>
            <a:lnSpc>
              <a:spcPct val="100000"/>
            </a:lnSpc>
          </a:pPr>
          <a:r>
            <a:rPr lang="en-US" b="0" i="0" baseline="0"/>
            <a:t>Programming and ML skills are highly valued</a:t>
          </a:r>
          <a:endParaRPr lang="en-US"/>
        </a:p>
      </dgm:t>
    </dgm:pt>
    <dgm:pt modelId="{21731676-0A0A-411B-AF80-4D8A054FE75B}" type="parTrans" cxnId="{FA36474B-45F5-4287-81B5-6756252084F0}">
      <dgm:prSet/>
      <dgm:spPr/>
      <dgm:t>
        <a:bodyPr/>
        <a:lstStyle/>
        <a:p>
          <a:endParaRPr lang="en-US"/>
        </a:p>
      </dgm:t>
    </dgm:pt>
    <dgm:pt modelId="{136C1BC0-3869-47AB-BBB7-30C79157D16C}" type="sibTrans" cxnId="{FA36474B-45F5-4287-81B5-6756252084F0}">
      <dgm:prSet/>
      <dgm:spPr/>
      <dgm:t>
        <a:bodyPr/>
        <a:lstStyle/>
        <a:p>
          <a:pPr>
            <a:lnSpc>
              <a:spcPct val="100000"/>
            </a:lnSpc>
          </a:pPr>
          <a:endParaRPr lang="en-US"/>
        </a:p>
      </dgm:t>
    </dgm:pt>
    <dgm:pt modelId="{3660A1DA-97AE-460A-AA08-B023198C3199}">
      <dgm:prSet/>
      <dgm:spPr/>
      <dgm:t>
        <a:bodyPr/>
        <a:lstStyle/>
        <a:p>
          <a:pPr>
            <a:lnSpc>
              <a:spcPct val="100000"/>
            </a:lnSpc>
          </a:pPr>
          <a:r>
            <a:rPr lang="en-US" b="0" i="0" baseline="0"/>
            <a:t>Visualization makes job-market trends easy to understand</a:t>
          </a:r>
          <a:endParaRPr lang="en-US"/>
        </a:p>
      </dgm:t>
    </dgm:pt>
    <dgm:pt modelId="{77DD0DA5-05B8-4A10-9F97-5CA6C2F935CD}" type="parTrans" cxnId="{B148F55F-5A8A-40BC-B91A-99E62D9F8528}">
      <dgm:prSet/>
      <dgm:spPr/>
      <dgm:t>
        <a:bodyPr/>
        <a:lstStyle/>
        <a:p>
          <a:endParaRPr lang="en-US"/>
        </a:p>
      </dgm:t>
    </dgm:pt>
    <dgm:pt modelId="{D9E654F6-0E4B-4F0A-ABFF-DC3807798735}" type="sibTrans" cxnId="{B148F55F-5A8A-40BC-B91A-99E62D9F8528}">
      <dgm:prSet/>
      <dgm:spPr/>
      <dgm:t>
        <a:bodyPr/>
        <a:lstStyle/>
        <a:p>
          <a:endParaRPr lang="en-US"/>
        </a:p>
      </dgm:t>
    </dgm:pt>
    <dgm:pt modelId="{DDDE860F-762D-4763-92CB-AE21F390BD66}" type="pres">
      <dgm:prSet presAssocID="{A99561D0-6E09-4916-9544-A151149E0324}" presName="root" presStyleCnt="0">
        <dgm:presLayoutVars>
          <dgm:dir/>
          <dgm:resizeHandles val="exact"/>
        </dgm:presLayoutVars>
      </dgm:prSet>
      <dgm:spPr/>
    </dgm:pt>
    <dgm:pt modelId="{9813CBE8-7AC7-48F5-9699-B8F9EEC35E85}" type="pres">
      <dgm:prSet presAssocID="{A0A90EFE-24F7-48AC-B90F-6F6C2E79319F}" presName="compNode" presStyleCnt="0"/>
      <dgm:spPr/>
    </dgm:pt>
    <dgm:pt modelId="{77DAEF13-454A-413B-8413-7763DDB91FCB}" type="pres">
      <dgm:prSet presAssocID="{A0A90EFE-24F7-48AC-B90F-6F6C2E79319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958FA97F-5B12-40C1-AEB5-92614B06DACB}" type="pres">
      <dgm:prSet presAssocID="{A0A90EFE-24F7-48AC-B90F-6F6C2E79319F}" presName="spaceRect" presStyleCnt="0"/>
      <dgm:spPr/>
    </dgm:pt>
    <dgm:pt modelId="{D84647D1-A2E3-4E6F-9A3B-E2DF99CDFB25}" type="pres">
      <dgm:prSet presAssocID="{A0A90EFE-24F7-48AC-B90F-6F6C2E79319F}" presName="textRect" presStyleLbl="revTx" presStyleIdx="0" presStyleCnt="4">
        <dgm:presLayoutVars>
          <dgm:chMax val="1"/>
          <dgm:chPref val="1"/>
        </dgm:presLayoutVars>
      </dgm:prSet>
      <dgm:spPr/>
    </dgm:pt>
    <dgm:pt modelId="{13F71D52-C8AE-46F4-80FC-E0272F8DE3F5}" type="pres">
      <dgm:prSet presAssocID="{698568E4-6BE9-45D9-8752-F79FA50250D8}" presName="sibTrans" presStyleCnt="0"/>
      <dgm:spPr/>
    </dgm:pt>
    <dgm:pt modelId="{E93D146D-56E6-43E4-8CCF-69C4A8CB5D69}" type="pres">
      <dgm:prSet presAssocID="{A159FD23-7064-4423-887B-1BCCEF8B3EB8}" presName="compNode" presStyleCnt="0"/>
      <dgm:spPr/>
    </dgm:pt>
    <dgm:pt modelId="{6AA7C9A7-78E2-4606-870A-8E671567759A}" type="pres">
      <dgm:prSet presAssocID="{A159FD23-7064-4423-887B-1BCCEF8B3EB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C6E2C16B-B580-4F9E-A5D5-5004F7B329D0}" type="pres">
      <dgm:prSet presAssocID="{A159FD23-7064-4423-887B-1BCCEF8B3EB8}" presName="spaceRect" presStyleCnt="0"/>
      <dgm:spPr/>
    </dgm:pt>
    <dgm:pt modelId="{0F4FE1AA-1B46-4599-A05E-4826B9579515}" type="pres">
      <dgm:prSet presAssocID="{A159FD23-7064-4423-887B-1BCCEF8B3EB8}" presName="textRect" presStyleLbl="revTx" presStyleIdx="1" presStyleCnt="4">
        <dgm:presLayoutVars>
          <dgm:chMax val="1"/>
          <dgm:chPref val="1"/>
        </dgm:presLayoutVars>
      </dgm:prSet>
      <dgm:spPr/>
    </dgm:pt>
    <dgm:pt modelId="{71733ECC-09AC-410F-A769-E04CA4CC92EC}" type="pres">
      <dgm:prSet presAssocID="{73293A5D-DD39-4EC6-ACC2-E9741DF32507}" presName="sibTrans" presStyleCnt="0"/>
      <dgm:spPr/>
    </dgm:pt>
    <dgm:pt modelId="{D468C473-50C9-4AC2-AF16-641CD92DE1F1}" type="pres">
      <dgm:prSet presAssocID="{37033152-904F-4FDA-840B-D5A9CB463859}" presName="compNode" presStyleCnt="0"/>
      <dgm:spPr/>
    </dgm:pt>
    <dgm:pt modelId="{2403D242-D815-40DD-AAE1-D04B73CF2D00}" type="pres">
      <dgm:prSet presAssocID="{37033152-904F-4FDA-840B-D5A9CB46385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30DC9679-AC05-4A98-8F64-4D411F1C50F8}" type="pres">
      <dgm:prSet presAssocID="{37033152-904F-4FDA-840B-D5A9CB463859}" presName="spaceRect" presStyleCnt="0"/>
      <dgm:spPr/>
    </dgm:pt>
    <dgm:pt modelId="{69303207-ED0F-4A09-BFFC-A45A850B5153}" type="pres">
      <dgm:prSet presAssocID="{37033152-904F-4FDA-840B-D5A9CB463859}" presName="textRect" presStyleLbl="revTx" presStyleIdx="2" presStyleCnt="4">
        <dgm:presLayoutVars>
          <dgm:chMax val="1"/>
          <dgm:chPref val="1"/>
        </dgm:presLayoutVars>
      </dgm:prSet>
      <dgm:spPr/>
    </dgm:pt>
    <dgm:pt modelId="{2095A7CA-3A79-47D0-BC11-06330869E824}" type="pres">
      <dgm:prSet presAssocID="{136C1BC0-3869-47AB-BBB7-30C79157D16C}" presName="sibTrans" presStyleCnt="0"/>
      <dgm:spPr/>
    </dgm:pt>
    <dgm:pt modelId="{FE2F06D3-6B8E-44E6-9023-51BCE0CCF5AA}" type="pres">
      <dgm:prSet presAssocID="{3660A1DA-97AE-460A-AA08-B023198C3199}" presName="compNode" presStyleCnt="0"/>
      <dgm:spPr/>
    </dgm:pt>
    <dgm:pt modelId="{8DC527FE-54C8-46F0-A307-CDB19CE9A034}" type="pres">
      <dgm:prSet presAssocID="{3660A1DA-97AE-460A-AA08-B023198C319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C11CF857-7271-4B13-B82F-F41E86503DEB}" type="pres">
      <dgm:prSet presAssocID="{3660A1DA-97AE-460A-AA08-B023198C3199}" presName="spaceRect" presStyleCnt="0"/>
      <dgm:spPr/>
    </dgm:pt>
    <dgm:pt modelId="{3381C1D9-1BF8-4D56-93D7-2C385C006E47}" type="pres">
      <dgm:prSet presAssocID="{3660A1DA-97AE-460A-AA08-B023198C3199}" presName="textRect" presStyleLbl="revTx" presStyleIdx="3" presStyleCnt="4">
        <dgm:presLayoutVars>
          <dgm:chMax val="1"/>
          <dgm:chPref val="1"/>
        </dgm:presLayoutVars>
      </dgm:prSet>
      <dgm:spPr/>
    </dgm:pt>
  </dgm:ptLst>
  <dgm:cxnLst>
    <dgm:cxn modelId="{6AC2D704-A76D-473A-96FF-8AE37054C954}" srcId="{A99561D0-6E09-4916-9544-A151149E0324}" destId="{A159FD23-7064-4423-887B-1BCCEF8B3EB8}" srcOrd="1" destOrd="0" parTransId="{8952D7B3-E75D-4A6E-914F-95B1B278488C}" sibTransId="{73293A5D-DD39-4EC6-ACC2-E9741DF32507}"/>
    <dgm:cxn modelId="{1BE3EA08-5350-4930-B674-876FD31008B4}" srcId="{A99561D0-6E09-4916-9544-A151149E0324}" destId="{A0A90EFE-24F7-48AC-B90F-6F6C2E79319F}" srcOrd="0" destOrd="0" parTransId="{93C1E08B-4C8D-47D3-9C64-C8873BA23A8C}" sibTransId="{698568E4-6BE9-45D9-8752-F79FA50250D8}"/>
    <dgm:cxn modelId="{B148F55F-5A8A-40BC-B91A-99E62D9F8528}" srcId="{A99561D0-6E09-4916-9544-A151149E0324}" destId="{3660A1DA-97AE-460A-AA08-B023198C3199}" srcOrd="3" destOrd="0" parTransId="{77DD0DA5-05B8-4A10-9F97-5CA6C2F935CD}" sibTransId="{D9E654F6-0E4B-4F0A-ABFF-DC3807798735}"/>
    <dgm:cxn modelId="{FA36474B-45F5-4287-81B5-6756252084F0}" srcId="{A99561D0-6E09-4916-9544-A151149E0324}" destId="{37033152-904F-4FDA-840B-D5A9CB463859}" srcOrd="2" destOrd="0" parTransId="{21731676-0A0A-411B-AF80-4D8A054FE75B}" sibTransId="{136C1BC0-3869-47AB-BBB7-30C79157D16C}"/>
    <dgm:cxn modelId="{DD4E3881-EB4C-4199-890F-7E4E3EB672BB}" type="presOf" srcId="{37033152-904F-4FDA-840B-D5A9CB463859}" destId="{69303207-ED0F-4A09-BFFC-A45A850B5153}" srcOrd="0" destOrd="0" presId="urn:microsoft.com/office/officeart/2018/2/layout/IconLabelList"/>
    <dgm:cxn modelId="{925A8F8B-E596-40AA-BCDD-284BC1FEC621}" type="presOf" srcId="{A0A90EFE-24F7-48AC-B90F-6F6C2E79319F}" destId="{D84647D1-A2E3-4E6F-9A3B-E2DF99CDFB25}" srcOrd="0" destOrd="0" presId="urn:microsoft.com/office/officeart/2018/2/layout/IconLabelList"/>
    <dgm:cxn modelId="{79696E92-D43E-4401-9E28-ACD653E02C9E}" type="presOf" srcId="{3660A1DA-97AE-460A-AA08-B023198C3199}" destId="{3381C1D9-1BF8-4D56-93D7-2C385C006E47}" srcOrd="0" destOrd="0" presId="urn:microsoft.com/office/officeart/2018/2/layout/IconLabelList"/>
    <dgm:cxn modelId="{1BE5D89B-775D-48F3-A7AA-E87BD23A1718}" type="presOf" srcId="{A159FD23-7064-4423-887B-1BCCEF8B3EB8}" destId="{0F4FE1AA-1B46-4599-A05E-4826B9579515}" srcOrd="0" destOrd="0" presId="urn:microsoft.com/office/officeart/2018/2/layout/IconLabelList"/>
    <dgm:cxn modelId="{044A1BFC-8743-4C09-A13C-728C1AE67B05}" type="presOf" srcId="{A99561D0-6E09-4916-9544-A151149E0324}" destId="{DDDE860F-762D-4763-92CB-AE21F390BD66}" srcOrd="0" destOrd="0" presId="urn:microsoft.com/office/officeart/2018/2/layout/IconLabelList"/>
    <dgm:cxn modelId="{312EF458-303D-4D79-92E9-356DC7D6397C}" type="presParOf" srcId="{DDDE860F-762D-4763-92CB-AE21F390BD66}" destId="{9813CBE8-7AC7-48F5-9699-B8F9EEC35E85}" srcOrd="0" destOrd="0" presId="urn:microsoft.com/office/officeart/2018/2/layout/IconLabelList"/>
    <dgm:cxn modelId="{83D0795C-DEF7-40AA-B955-E4B74EC51C8A}" type="presParOf" srcId="{9813CBE8-7AC7-48F5-9699-B8F9EEC35E85}" destId="{77DAEF13-454A-413B-8413-7763DDB91FCB}" srcOrd="0" destOrd="0" presId="urn:microsoft.com/office/officeart/2018/2/layout/IconLabelList"/>
    <dgm:cxn modelId="{0979D1A3-E771-4BC8-971A-5EF38E905A8C}" type="presParOf" srcId="{9813CBE8-7AC7-48F5-9699-B8F9EEC35E85}" destId="{958FA97F-5B12-40C1-AEB5-92614B06DACB}" srcOrd="1" destOrd="0" presId="urn:microsoft.com/office/officeart/2018/2/layout/IconLabelList"/>
    <dgm:cxn modelId="{2C374DD0-0311-4F47-854E-DFC11FCF553A}" type="presParOf" srcId="{9813CBE8-7AC7-48F5-9699-B8F9EEC35E85}" destId="{D84647D1-A2E3-4E6F-9A3B-E2DF99CDFB25}" srcOrd="2" destOrd="0" presId="urn:microsoft.com/office/officeart/2018/2/layout/IconLabelList"/>
    <dgm:cxn modelId="{878A814D-3113-46E9-8AF4-65FD38D8AC73}" type="presParOf" srcId="{DDDE860F-762D-4763-92CB-AE21F390BD66}" destId="{13F71D52-C8AE-46F4-80FC-E0272F8DE3F5}" srcOrd="1" destOrd="0" presId="urn:microsoft.com/office/officeart/2018/2/layout/IconLabelList"/>
    <dgm:cxn modelId="{BAB6C55C-ED9F-45E7-B3A4-3699AA9CA766}" type="presParOf" srcId="{DDDE860F-762D-4763-92CB-AE21F390BD66}" destId="{E93D146D-56E6-43E4-8CCF-69C4A8CB5D69}" srcOrd="2" destOrd="0" presId="urn:microsoft.com/office/officeart/2018/2/layout/IconLabelList"/>
    <dgm:cxn modelId="{9457BA2A-8CE4-4B92-9A6D-579528207293}" type="presParOf" srcId="{E93D146D-56E6-43E4-8CCF-69C4A8CB5D69}" destId="{6AA7C9A7-78E2-4606-870A-8E671567759A}" srcOrd="0" destOrd="0" presId="urn:microsoft.com/office/officeart/2018/2/layout/IconLabelList"/>
    <dgm:cxn modelId="{115130EB-183D-43F1-A039-8DACCC3024FB}" type="presParOf" srcId="{E93D146D-56E6-43E4-8CCF-69C4A8CB5D69}" destId="{C6E2C16B-B580-4F9E-A5D5-5004F7B329D0}" srcOrd="1" destOrd="0" presId="urn:microsoft.com/office/officeart/2018/2/layout/IconLabelList"/>
    <dgm:cxn modelId="{9EACD29C-731B-484A-8335-6895885D93D9}" type="presParOf" srcId="{E93D146D-56E6-43E4-8CCF-69C4A8CB5D69}" destId="{0F4FE1AA-1B46-4599-A05E-4826B9579515}" srcOrd="2" destOrd="0" presId="urn:microsoft.com/office/officeart/2018/2/layout/IconLabelList"/>
    <dgm:cxn modelId="{4E66B919-36EB-4C2F-92E0-CE4FF04644F2}" type="presParOf" srcId="{DDDE860F-762D-4763-92CB-AE21F390BD66}" destId="{71733ECC-09AC-410F-A769-E04CA4CC92EC}" srcOrd="3" destOrd="0" presId="urn:microsoft.com/office/officeart/2018/2/layout/IconLabelList"/>
    <dgm:cxn modelId="{19F32F10-DB62-4B66-9E1E-637E240A2C00}" type="presParOf" srcId="{DDDE860F-762D-4763-92CB-AE21F390BD66}" destId="{D468C473-50C9-4AC2-AF16-641CD92DE1F1}" srcOrd="4" destOrd="0" presId="urn:microsoft.com/office/officeart/2018/2/layout/IconLabelList"/>
    <dgm:cxn modelId="{5D3A1D7C-CC51-488D-8818-719030300CF2}" type="presParOf" srcId="{D468C473-50C9-4AC2-AF16-641CD92DE1F1}" destId="{2403D242-D815-40DD-AAE1-D04B73CF2D00}" srcOrd="0" destOrd="0" presId="urn:microsoft.com/office/officeart/2018/2/layout/IconLabelList"/>
    <dgm:cxn modelId="{B2F4CE02-1D6F-4491-ABC2-A8E98BEABC9D}" type="presParOf" srcId="{D468C473-50C9-4AC2-AF16-641CD92DE1F1}" destId="{30DC9679-AC05-4A98-8F64-4D411F1C50F8}" srcOrd="1" destOrd="0" presId="urn:microsoft.com/office/officeart/2018/2/layout/IconLabelList"/>
    <dgm:cxn modelId="{47C9BAEB-1139-4056-975B-EA259B250B4C}" type="presParOf" srcId="{D468C473-50C9-4AC2-AF16-641CD92DE1F1}" destId="{69303207-ED0F-4A09-BFFC-A45A850B5153}" srcOrd="2" destOrd="0" presId="urn:microsoft.com/office/officeart/2018/2/layout/IconLabelList"/>
    <dgm:cxn modelId="{142ABDDD-BB87-4810-867F-5D272B994353}" type="presParOf" srcId="{DDDE860F-762D-4763-92CB-AE21F390BD66}" destId="{2095A7CA-3A79-47D0-BC11-06330869E824}" srcOrd="5" destOrd="0" presId="urn:microsoft.com/office/officeart/2018/2/layout/IconLabelList"/>
    <dgm:cxn modelId="{C7F8C48E-65A6-4ADF-B13B-222B80F601FC}" type="presParOf" srcId="{DDDE860F-762D-4763-92CB-AE21F390BD66}" destId="{FE2F06D3-6B8E-44E6-9023-51BCE0CCF5AA}" srcOrd="6" destOrd="0" presId="urn:microsoft.com/office/officeart/2018/2/layout/IconLabelList"/>
    <dgm:cxn modelId="{2FF33265-8BB6-425A-BD16-8E8195C32257}" type="presParOf" srcId="{FE2F06D3-6B8E-44E6-9023-51BCE0CCF5AA}" destId="{8DC527FE-54C8-46F0-A307-CDB19CE9A034}" srcOrd="0" destOrd="0" presId="urn:microsoft.com/office/officeart/2018/2/layout/IconLabelList"/>
    <dgm:cxn modelId="{E4EAD9CA-1D4E-4744-BC46-31BE183EE913}" type="presParOf" srcId="{FE2F06D3-6B8E-44E6-9023-51BCE0CCF5AA}" destId="{C11CF857-7271-4B13-B82F-F41E86503DEB}" srcOrd="1" destOrd="0" presId="urn:microsoft.com/office/officeart/2018/2/layout/IconLabelList"/>
    <dgm:cxn modelId="{137AE4CB-7454-41D6-835A-88B477970E21}" type="presParOf" srcId="{FE2F06D3-6B8E-44E6-9023-51BCE0CCF5AA}" destId="{3381C1D9-1BF8-4D56-93D7-2C385C006E4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D89E8-A122-48E5-9938-F8EFF08343D6}">
      <dsp:nvSpPr>
        <dsp:cNvPr id="0" name=""/>
        <dsp:cNvSpPr/>
      </dsp:nvSpPr>
      <dsp:spPr>
        <a:xfrm>
          <a:off x="377904" y="407"/>
          <a:ext cx="3049934" cy="182996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0" i="0" kern="1200" baseline="0"/>
            <a:t>Artificial intelligence jobs are increasing in many industries</a:t>
          </a:r>
          <a:endParaRPr lang="en-US" sz="2700" kern="1200"/>
        </a:p>
      </dsp:txBody>
      <dsp:txXfrm>
        <a:off x="377904" y="407"/>
        <a:ext cx="3049934" cy="1829960"/>
      </dsp:txXfrm>
    </dsp:sp>
    <dsp:sp modelId="{D7985775-66F7-4B52-9A23-2164E2D5B815}">
      <dsp:nvSpPr>
        <dsp:cNvPr id="0" name=""/>
        <dsp:cNvSpPr/>
      </dsp:nvSpPr>
      <dsp:spPr>
        <a:xfrm>
          <a:off x="3732832" y="407"/>
          <a:ext cx="3049934" cy="1829960"/>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0" i="0" kern="1200" baseline="0"/>
            <a:t>Employers require different experience levels and technical skills</a:t>
          </a:r>
          <a:endParaRPr lang="en-US" sz="2700" kern="1200"/>
        </a:p>
      </dsp:txBody>
      <dsp:txXfrm>
        <a:off x="3732832" y="407"/>
        <a:ext cx="3049934" cy="1829960"/>
      </dsp:txXfrm>
    </dsp:sp>
    <dsp:sp modelId="{F8F73D0E-F0AE-4323-A3D2-2675DDF15E44}">
      <dsp:nvSpPr>
        <dsp:cNvPr id="0" name=""/>
        <dsp:cNvSpPr/>
      </dsp:nvSpPr>
      <dsp:spPr>
        <a:xfrm>
          <a:off x="7087760" y="407"/>
          <a:ext cx="3049934" cy="182996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0" i="0" kern="1200" baseline="0"/>
            <a:t>Salary varies depending on experience and role level</a:t>
          </a:r>
          <a:endParaRPr lang="en-US" sz="2700" kern="1200"/>
        </a:p>
      </dsp:txBody>
      <dsp:txXfrm>
        <a:off x="7087760" y="407"/>
        <a:ext cx="3049934" cy="1829960"/>
      </dsp:txXfrm>
    </dsp:sp>
    <dsp:sp modelId="{60FC0330-7D06-4D0B-886A-E75E8BFCA155}">
      <dsp:nvSpPr>
        <dsp:cNvPr id="0" name=""/>
        <dsp:cNvSpPr/>
      </dsp:nvSpPr>
      <dsp:spPr>
        <a:xfrm>
          <a:off x="3732832" y="2135361"/>
          <a:ext cx="3049934" cy="182996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0" i="0" kern="1200" baseline="0"/>
            <a:t>Data visualization helps understand hiring trends over time</a:t>
          </a:r>
          <a:endParaRPr lang="en-US" sz="2700" kern="1200"/>
        </a:p>
      </dsp:txBody>
      <dsp:txXfrm>
        <a:off x="3732832" y="2135361"/>
        <a:ext cx="3049934" cy="18299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2E6B4-5CD1-4252-B514-3ADCA7FD5562}">
      <dsp:nvSpPr>
        <dsp:cNvPr id="0" name=""/>
        <dsp:cNvSpPr/>
      </dsp:nvSpPr>
      <dsp:spPr>
        <a:xfrm>
          <a:off x="3274935" y="0"/>
          <a:ext cx="3965730" cy="3965730"/>
        </a:xfrm>
        <a:prstGeom prst="diamond">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EC4EEE-FAC2-4E3A-A39F-7FEAFEF48683}">
      <dsp:nvSpPr>
        <dsp:cNvPr id="0" name=""/>
        <dsp:cNvSpPr/>
      </dsp:nvSpPr>
      <dsp:spPr>
        <a:xfrm>
          <a:off x="3651679" y="376744"/>
          <a:ext cx="1546634" cy="1546634"/>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a:t>Dataset contains thousands of AI job postings</a:t>
          </a:r>
          <a:endParaRPr lang="en-US" sz="1500" kern="1200"/>
        </a:p>
      </dsp:txBody>
      <dsp:txXfrm>
        <a:off x="3727179" y="452244"/>
        <a:ext cx="1395634" cy="1395634"/>
      </dsp:txXfrm>
    </dsp:sp>
    <dsp:sp modelId="{3792E22E-FD12-4728-B010-33262F2E6095}">
      <dsp:nvSpPr>
        <dsp:cNvPr id="0" name=""/>
        <dsp:cNvSpPr/>
      </dsp:nvSpPr>
      <dsp:spPr>
        <a:xfrm>
          <a:off x="5317285" y="376744"/>
          <a:ext cx="1546634" cy="1546634"/>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a:t>Includes posting date, salary, experience level, and skills</a:t>
          </a:r>
          <a:endParaRPr lang="en-US" sz="1500" kern="1200"/>
        </a:p>
      </dsp:txBody>
      <dsp:txXfrm>
        <a:off x="5392785" y="452244"/>
        <a:ext cx="1395634" cy="1395634"/>
      </dsp:txXfrm>
    </dsp:sp>
    <dsp:sp modelId="{9710A453-02BF-4DF0-AF0E-2787EE68A067}">
      <dsp:nvSpPr>
        <dsp:cNvPr id="0" name=""/>
        <dsp:cNvSpPr/>
      </dsp:nvSpPr>
      <dsp:spPr>
        <a:xfrm>
          <a:off x="3651679" y="2042350"/>
          <a:ext cx="1546634" cy="1546634"/>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a:t>Posting date used for monthly job count chart</a:t>
          </a:r>
          <a:endParaRPr lang="en-US" sz="1500" kern="1200"/>
        </a:p>
      </dsp:txBody>
      <dsp:txXfrm>
        <a:off x="3727179" y="2117850"/>
        <a:ext cx="1395634" cy="1395634"/>
      </dsp:txXfrm>
    </dsp:sp>
    <dsp:sp modelId="{3A44D111-D1F0-4129-8B0F-92E212584AD7}">
      <dsp:nvSpPr>
        <dsp:cNvPr id="0" name=""/>
        <dsp:cNvSpPr/>
      </dsp:nvSpPr>
      <dsp:spPr>
        <a:xfrm>
          <a:off x="5317285" y="2042350"/>
          <a:ext cx="1546634" cy="1546634"/>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0" i="0" kern="1200" baseline="0" dirty="0"/>
            <a:t>Skills column used to find most requested technologies</a:t>
          </a:r>
          <a:endParaRPr lang="en-US" sz="1500" kern="1200" dirty="0"/>
        </a:p>
      </dsp:txBody>
      <dsp:txXfrm>
        <a:off x="5392785" y="2117850"/>
        <a:ext cx="1395634" cy="13956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9F9B6D-D8B8-4084-BDB8-FA9C8252A9F8}">
      <dsp:nvSpPr>
        <dsp:cNvPr id="0" name=""/>
        <dsp:cNvSpPr/>
      </dsp:nvSpPr>
      <dsp:spPr>
        <a:xfrm>
          <a:off x="3080" y="1168383"/>
          <a:ext cx="2199649" cy="139677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16E5B3-81AC-46D1-A8EA-0C80280C3327}">
      <dsp:nvSpPr>
        <dsp:cNvPr id="0" name=""/>
        <dsp:cNvSpPr/>
      </dsp:nvSpPr>
      <dsp:spPr>
        <a:xfrm>
          <a:off x="247486" y="140056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baseline="0"/>
            <a:t>Python used with pandas and matplotlib</a:t>
          </a:r>
          <a:endParaRPr lang="en-US" sz="2000" kern="1200"/>
        </a:p>
      </dsp:txBody>
      <dsp:txXfrm>
        <a:off x="288396" y="1441478"/>
        <a:ext cx="2117829" cy="1314957"/>
      </dsp:txXfrm>
    </dsp:sp>
    <dsp:sp modelId="{3AB4A9D7-F8F6-4687-BA6A-5AC9512F8392}">
      <dsp:nvSpPr>
        <dsp:cNvPr id="0" name=""/>
        <dsp:cNvSpPr/>
      </dsp:nvSpPr>
      <dsp:spPr>
        <a:xfrm>
          <a:off x="2691541" y="1168383"/>
          <a:ext cx="2199649" cy="139677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E3D2A7-A6F3-4709-8636-411B09E441C1}">
      <dsp:nvSpPr>
        <dsp:cNvPr id="0" name=""/>
        <dsp:cNvSpPr/>
      </dsp:nvSpPr>
      <dsp:spPr>
        <a:xfrm>
          <a:off x="2935947" y="140056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baseline="0"/>
            <a:t>Job postings grouped by month for time-series plot</a:t>
          </a:r>
          <a:endParaRPr lang="en-US" sz="2000" kern="1200"/>
        </a:p>
      </dsp:txBody>
      <dsp:txXfrm>
        <a:off x="2976857" y="1441478"/>
        <a:ext cx="2117829" cy="1314957"/>
      </dsp:txXfrm>
    </dsp:sp>
    <dsp:sp modelId="{8D9C04C2-7F1E-40C1-8D4F-019CB73C5637}">
      <dsp:nvSpPr>
        <dsp:cNvPr id="0" name=""/>
        <dsp:cNvSpPr/>
      </dsp:nvSpPr>
      <dsp:spPr>
        <a:xfrm>
          <a:off x="5380002" y="1168383"/>
          <a:ext cx="2199649" cy="139677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E67A79-E839-4543-9EAB-A87357BD8B0A}">
      <dsp:nvSpPr>
        <dsp:cNvPr id="0" name=""/>
        <dsp:cNvSpPr/>
      </dsp:nvSpPr>
      <dsp:spPr>
        <a:xfrm>
          <a:off x="5624408" y="140056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baseline="0"/>
            <a:t>Salary averaged for each experience level</a:t>
          </a:r>
          <a:endParaRPr lang="en-US" sz="2000" kern="1200"/>
        </a:p>
      </dsp:txBody>
      <dsp:txXfrm>
        <a:off x="5665318" y="1441478"/>
        <a:ext cx="2117829" cy="1314957"/>
      </dsp:txXfrm>
    </dsp:sp>
    <dsp:sp modelId="{A666A976-C7F1-4AFA-829F-AB434475C3BD}">
      <dsp:nvSpPr>
        <dsp:cNvPr id="0" name=""/>
        <dsp:cNvSpPr/>
      </dsp:nvSpPr>
      <dsp:spPr>
        <a:xfrm>
          <a:off x="8068463" y="1168383"/>
          <a:ext cx="2199649" cy="139677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E1DFC2-550A-4921-9A32-3D6FCFB1BE89}">
      <dsp:nvSpPr>
        <dsp:cNvPr id="0" name=""/>
        <dsp:cNvSpPr/>
      </dsp:nvSpPr>
      <dsp:spPr>
        <a:xfrm>
          <a:off x="8312869" y="1400568"/>
          <a:ext cx="2199649" cy="139677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baseline="0"/>
            <a:t>Skills separated and counted for frequency chart</a:t>
          </a:r>
          <a:endParaRPr lang="en-US" sz="2000" kern="1200"/>
        </a:p>
      </dsp:txBody>
      <dsp:txXfrm>
        <a:off x="8353779" y="1441478"/>
        <a:ext cx="2117829" cy="13149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41ED6-CA5E-442E-A488-43AEFE9ED491}">
      <dsp:nvSpPr>
        <dsp:cNvPr id="0" name=""/>
        <dsp:cNvSpPr/>
      </dsp:nvSpPr>
      <dsp:spPr>
        <a:xfrm>
          <a:off x="1138979" y="1010656"/>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30A086-340B-41A3-B11A-C0C4FB1CA6BC}">
      <dsp:nvSpPr>
        <dsp:cNvPr id="0" name=""/>
        <dsp:cNvSpPr/>
      </dsp:nvSpPr>
      <dsp:spPr>
        <a:xfrm>
          <a:off x="569079"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Job postings stayed high, with peak around April 2024</a:t>
          </a:r>
          <a:endParaRPr lang="en-US" sz="1500" kern="1200"/>
        </a:p>
      </dsp:txBody>
      <dsp:txXfrm>
        <a:off x="569079" y="2235073"/>
        <a:ext cx="2072362" cy="720000"/>
      </dsp:txXfrm>
    </dsp:sp>
    <dsp:sp modelId="{0D896951-0D24-488D-9970-80293CEED27C}">
      <dsp:nvSpPr>
        <dsp:cNvPr id="0" name=""/>
        <dsp:cNvSpPr/>
      </dsp:nvSpPr>
      <dsp:spPr>
        <a:xfrm>
          <a:off x="3574005" y="1010656"/>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8A1620-41B5-4C4F-B133-4864D2ECF965}">
      <dsp:nvSpPr>
        <dsp:cNvPr id="0" name=""/>
        <dsp:cNvSpPr/>
      </dsp:nvSpPr>
      <dsp:spPr>
        <a:xfrm>
          <a:off x="3004105"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Executive salaries highest, entry salaries lowest</a:t>
          </a:r>
          <a:endParaRPr lang="en-US" sz="1500" kern="1200"/>
        </a:p>
      </dsp:txBody>
      <dsp:txXfrm>
        <a:off x="3004105" y="2235073"/>
        <a:ext cx="2072362" cy="720000"/>
      </dsp:txXfrm>
    </dsp:sp>
    <dsp:sp modelId="{8461A455-75CB-4E5A-905B-66FA4B6B6B93}">
      <dsp:nvSpPr>
        <dsp:cNvPr id="0" name=""/>
        <dsp:cNvSpPr/>
      </dsp:nvSpPr>
      <dsp:spPr>
        <a:xfrm>
          <a:off x="6009031" y="1010656"/>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8D6072-FAFE-444D-B05E-B2D7EF96C5EB}">
      <dsp:nvSpPr>
        <dsp:cNvPr id="0" name=""/>
        <dsp:cNvSpPr/>
      </dsp:nvSpPr>
      <dsp:spPr>
        <a:xfrm>
          <a:off x="5439131"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Python, SQL, and TensorFlow most requested skills</a:t>
          </a:r>
          <a:endParaRPr lang="en-US" sz="1500" kern="1200"/>
        </a:p>
      </dsp:txBody>
      <dsp:txXfrm>
        <a:off x="5439131" y="2235073"/>
        <a:ext cx="2072362" cy="720000"/>
      </dsp:txXfrm>
    </dsp:sp>
    <dsp:sp modelId="{1B5C5F03-6CE5-4593-A14C-F4672916C5CC}">
      <dsp:nvSpPr>
        <dsp:cNvPr id="0" name=""/>
        <dsp:cNvSpPr/>
      </dsp:nvSpPr>
      <dsp:spPr>
        <a:xfrm>
          <a:off x="8444057" y="1010656"/>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7CD919-10CB-4908-B8FE-F67DA2986EE4}">
      <dsp:nvSpPr>
        <dsp:cNvPr id="0" name=""/>
        <dsp:cNvSpPr/>
      </dsp:nvSpPr>
      <dsp:spPr>
        <a:xfrm>
          <a:off x="7874157"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Visualizations show clear hiring and salary patterns</a:t>
          </a:r>
          <a:endParaRPr lang="en-US" sz="1500" kern="1200"/>
        </a:p>
      </dsp:txBody>
      <dsp:txXfrm>
        <a:off x="7874157" y="2235073"/>
        <a:ext cx="2072362"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AEF13-454A-413B-8413-7763DDB91FCB}">
      <dsp:nvSpPr>
        <dsp:cNvPr id="0" name=""/>
        <dsp:cNvSpPr/>
      </dsp:nvSpPr>
      <dsp:spPr>
        <a:xfrm>
          <a:off x="1138979" y="1010656"/>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4647D1-A2E3-4E6F-9A3B-E2DF99CDFB25}">
      <dsp:nvSpPr>
        <dsp:cNvPr id="0" name=""/>
        <dsp:cNvSpPr/>
      </dsp:nvSpPr>
      <dsp:spPr>
        <a:xfrm>
          <a:off x="569079"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AI job demand remained strong over time</a:t>
          </a:r>
          <a:endParaRPr lang="en-US" sz="1500" kern="1200"/>
        </a:p>
      </dsp:txBody>
      <dsp:txXfrm>
        <a:off x="569079" y="2235073"/>
        <a:ext cx="2072362" cy="720000"/>
      </dsp:txXfrm>
    </dsp:sp>
    <dsp:sp modelId="{6AA7C9A7-78E2-4606-870A-8E671567759A}">
      <dsp:nvSpPr>
        <dsp:cNvPr id="0" name=""/>
        <dsp:cNvSpPr/>
      </dsp:nvSpPr>
      <dsp:spPr>
        <a:xfrm>
          <a:off x="3574005" y="1010656"/>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4FE1AA-1B46-4599-A05E-4826B9579515}">
      <dsp:nvSpPr>
        <dsp:cNvPr id="0" name=""/>
        <dsp:cNvSpPr/>
      </dsp:nvSpPr>
      <dsp:spPr>
        <a:xfrm>
          <a:off x="3004105"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Salary increases with experience level</a:t>
          </a:r>
          <a:endParaRPr lang="en-US" sz="1500" kern="1200"/>
        </a:p>
      </dsp:txBody>
      <dsp:txXfrm>
        <a:off x="3004105" y="2235073"/>
        <a:ext cx="2072362" cy="720000"/>
      </dsp:txXfrm>
    </dsp:sp>
    <dsp:sp modelId="{2403D242-D815-40DD-AAE1-D04B73CF2D00}">
      <dsp:nvSpPr>
        <dsp:cNvPr id="0" name=""/>
        <dsp:cNvSpPr/>
      </dsp:nvSpPr>
      <dsp:spPr>
        <a:xfrm>
          <a:off x="6009031" y="1010656"/>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03207-ED0F-4A09-BFFC-A45A850B5153}">
      <dsp:nvSpPr>
        <dsp:cNvPr id="0" name=""/>
        <dsp:cNvSpPr/>
      </dsp:nvSpPr>
      <dsp:spPr>
        <a:xfrm>
          <a:off x="5439131"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Programming and ML skills are highly valued</a:t>
          </a:r>
          <a:endParaRPr lang="en-US" sz="1500" kern="1200"/>
        </a:p>
      </dsp:txBody>
      <dsp:txXfrm>
        <a:off x="5439131" y="2235073"/>
        <a:ext cx="2072362" cy="720000"/>
      </dsp:txXfrm>
    </dsp:sp>
    <dsp:sp modelId="{8DC527FE-54C8-46F0-A307-CDB19CE9A034}">
      <dsp:nvSpPr>
        <dsp:cNvPr id="0" name=""/>
        <dsp:cNvSpPr/>
      </dsp:nvSpPr>
      <dsp:spPr>
        <a:xfrm>
          <a:off x="8444057" y="1010656"/>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81C1D9-1BF8-4D56-93D7-2C385C006E47}">
      <dsp:nvSpPr>
        <dsp:cNvPr id="0" name=""/>
        <dsp:cNvSpPr/>
      </dsp:nvSpPr>
      <dsp:spPr>
        <a:xfrm>
          <a:off x="7874157" y="2235073"/>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0" i="0" kern="1200" baseline="0"/>
            <a:t>Visualization makes job-market trends easy to understand</a:t>
          </a:r>
          <a:endParaRPr lang="en-US" sz="1500" kern="1200"/>
        </a:p>
      </dsp:txBody>
      <dsp:txXfrm>
        <a:off x="7874157" y="2235073"/>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019F5E-F7E3-49E7-A5AE-3683EFB23A38}" type="datetimeFigureOut">
              <a:rPr lang="en-IN" smtClean="0"/>
              <a:t>07-03-2026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9E4270-DA2D-407A-874E-CF4585BBF7C7}" type="slidenum">
              <a:rPr lang="en-IN" smtClean="0"/>
              <a:t>‹#›</a:t>
            </a:fld>
            <a:endParaRPr lang="en-IN"/>
          </a:p>
        </p:txBody>
      </p:sp>
    </p:spTree>
    <p:extLst>
      <p:ext uri="{BB962C8B-B14F-4D97-AF65-F5344CB8AC3E}">
        <p14:creationId xmlns:p14="http://schemas.microsoft.com/office/powerpoint/2010/main" val="2401657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Artificial intelligence jobs are increasing rapidly across various industries. Nevertheless, it is not always easy to comprehend how the need for a given job changes with time, how the pay varies with experience level, or what skills are most crucial. Using data visualization helps us visualize the trends for various jobs, pay levels, and skills.</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2</a:t>
            </a:fld>
            <a:endParaRPr lang="en-IN"/>
          </a:p>
        </p:txBody>
      </p:sp>
    </p:spTree>
    <p:extLst>
      <p:ext uri="{BB962C8B-B14F-4D97-AF65-F5344CB8AC3E}">
        <p14:creationId xmlns:p14="http://schemas.microsoft.com/office/powerpoint/2010/main" val="250117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aims to analyze the dynamics of job postings related to Artificial Intelligence (AI). My analysis will include trends focused on both demand and experience as measured by salary and most common technical skills reported in job postings. Hiring trends will also be made easier to analyze through the use of data visualization techniques.</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3</a:t>
            </a:fld>
            <a:endParaRPr lang="en-IN"/>
          </a:p>
        </p:txBody>
      </p:sp>
    </p:spTree>
    <p:extLst>
      <p:ext uri="{BB962C8B-B14F-4D97-AF65-F5344CB8AC3E}">
        <p14:creationId xmlns:p14="http://schemas.microsoft.com/office/powerpoint/2010/main" val="503429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job postings dataset contain several different pieces of information about each posting including Posting Date, Salary, Experience Level, and Required Skills. Posting Date is used to format the data into a time series chart. Salary is used to compare the experience levels of different jobs and the skills column is used to tally how many times a particular technology is requested.</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4</a:t>
            </a:fld>
            <a:endParaRPr lang="en-IN"/>
          </a:p>
        </p:txBody>
      </p:sp>
    </p:spTree>
    <p:extLst>
      <p:ext uri="{BB962C8B-B14F-4D97-AF65-F5344CB8AC3E}">
        <p14:creationId xmlns:p14="http://schemas.microsoft.com/office/powerpoint/2010/main" val="2501105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analysis was done using Python with the following libraries: pandas for cleaning and grouping the data, and matplotlib for producing charts. The monthly trends in job postings were aggregated into counties based on job title and then plotted on a line chart. Also, average salaries were calculated based on the first-opened-to-first closed experience level for a bar chart. Finally, the skills column was separated into individual items so the top skills across companies can be represented.</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5</a:t>
            </a:fld>
            <a:endParaRPr lang="en-IN"/>
          </a:p>
        </p:txBody>
      </p:sp>
    </p:spTree>
    <p:extLst>
      <p:ext uri="{BB962C8B-B14F-4D97-AF65-F5344CB8AC3E}">
        <p14:creationId xmlns:p14="http://schemas.microsoft.com/office/powerpoint/2010/main" val="1803927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following line chart shows the number of AI job postings per month from the first quarter of 2024 through the first quarter of 2025. As we can see, throughout that entire time period, the bulk of postings remain very similar, so the number of job postings for AI jobs has remained steady throughout the timeframe and will most likely continue to be an active area for growth of demand -- the highest posting counts appears in April of 2024 and the lowest posting count appears in the first quarter of 2025; therefore, the trend for the duration of this time frame appears to have either </a:t>
            </a:r>
            <a:r>
              <a:rPr lang="en-US" sz="1200" b="0" i="0" kern="1200" dirty="0" err="1">
                <a:solidFill>
                  <a:schemeClr val="tx1"/>
                </a:solidFill>
                <a:effectLst/>
                <a:latin typeface="+mn-lt"/>
                <a:ea typeface="+mn-ea"/>
                <a:cs typeface="+mn-cs"/>
              </a:rPr>
              <a:t>stabilised</a:t>
            </a:r>
            <a:r>
              <a:rPr lang="en-US" sz="1200" b="0" i="0" kern="1200" dirty="0">
                <a:solidFill>
                  <a:schemeClr val="tx1"/>
                </a:solidFill>
                <a:effectLst/>
                <a:latin typeface="+mn-lt"/>
                <a:ea typeface="+mn-ea"/>
                <a:cs typeface="+mn-cs"/>
              </a:rPr>
              <a:t> at (or just above) an average amount versus there being any type of temporary upward or downward trend.</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6</a:t>
            </a:fld>
            <a:endParaRPr lang="en-IN"/>
          </a:p>
        </p:txBody>
      </p:sp>
    </p:spTree>
    <p:extLst>
      <p:ext uri="{BB962C8B-B14F-4D97-AF65-F5344CB8AC3E}">
        <p14:creationId xmlns:p14="http://schemas.microsoft.com/office/powerpoint/2010/main" val="17984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is a considerable variation in average annual income dependent on an employee’s experience level as can be seen from the graph provided above. Entry-level employees earn less that those who fall into the mid-level category and, of course, far less than those who are executive-level employees. You can see that there is a definite upward trend in average annual income as you move from entry-level to mid-level, senior-level and finally executive-level employees (i.e., AI professionals earn more money as their respective level of experience increases).</a:t>
            </a:r>
            <a:br>
              <a:rPr lang="en-US" dirty="0"/>
            </a:b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7</a:t>
            </a:fld>
            <a:endParaRPr lang="en-IN"/>
          </a:p>
        </p:txBody>
      </p:sp>
    </p:spTree>
    <p:extLst>
      <p:ext uri="{BB962C8B-B14F-4D97-AF65-F5344CB8AC3E}">
        <p14:creationId xmlns:p14="http://schemas.microsoft.com/office/powerpoint/2010/main" val="72879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According to this data, Python is the most sought-after skill in AI job postings followed directly by SQL and TensorFlow (see graph below). The majority of skills required for these positions relate directly to programming languages used in machine learning and cloud technology. This clearly indicates that companies seek both technical coding skills and working knowledge of artificial intelligence when looking to fill positions in the field of artificial intelligence (AI).</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8</a:t>
            </a:fld>
            <a:endParaRPr lang="en-IN"/>
          </a:p>
        </p:txBody>
      </p:sp>
    </p:spTree>
    <p:extLst>
      <p:ext uri="{BB962C8B-B14F-4D97-AF65-F5344CB8AC3E}">
        <p14:creationId xmlns:p14="http://schemas.microsoft.com/office/powerpoint/2010/main" val="218828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first graph indicates that during all of this time AI job listings have had a high number of listings with peak numbers of listings around the month of April 2024 and a decline early in the year 2025.</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salary graph shows that the highest paid jobs are those in an executive position, with the rest of the pay for jobs being ordered highest to lowest as: Senior level, Mid Level and Entry Level.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Skills graph indicates that Python is the most common requested skill, with SQL and TensorFlow following as the next two highest requested skills.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These three graphs demonstrate the demand and salaries associated with AI Job skills. </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9</a:t>
            </a:fld>
            <a:endParaRPr lang="en-IN"/>
          </a:p>
        </p:txBody>
      </p:sp>
    </p:spTree>
    <p:extLst>
      <p:ext uri="{BB962C8B-B14F-4D97-AF65-F5344CB8AC3E}">
        <p14:creationId xmlns:p14="http://schemas.microsoft.com/office/powerpoint/2010/main" val="3502574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closing, the analysis indicates that there has been strong demand for AI jobs during the time period. Salary is higher for those with greater experience levels, therefore advanced skills are rewarded. The three skills most commonly needed in AI jobs are: Python, SQL, and TensorFlow, and the above referenced three graphs illustrate how easy it is to see the relationship between each data set.</a:t>
            </a:r>
            <a:endParaRPr lang="en-IN" dirty="0"/>
          </a:p>
        </p:txBody>
      </p:sp>
      <p:sp>
        <p:nvSpPr>
          <p:cNvPr id="4" name="Slide Number Placeholder 3"/>
          <p:cNvSpPr>
            <a:spLocks noGrp="1"/>
          </p:cNvSpPr>
          <p:nvPr>
            <p:ph type="sldNum" sz="quarter" idx="5"/>
          </p:nvPr>
        </p:nvSpPr>
        <p:spPr/>
        <p:txBody>
          <a:bodyPr/>
          <a:lstStyle/>
          <a:p>
            <a:fld id="{B69E4270-DA2D-407A-874E-CF4585BBF7C7}" type="slidenum">
              <a:rPr lang="en-IN" smtClean="0"/>
              <a:t>10</a:t>
            </a:fld>
            <a:endParaRPr lang="en-IN"/>
          </a:p>
        </p:txBody>
      </p:sp>
    </p:spTree>
    <p:extLst>
      <p:ext uri="{BB962C8B-B14F-4D97-AF65-F5344CB8AC3E}">
        <p14:creationId xmlns:p14="http://schemas.microsoft.com/office/powerpoint/2010/main" val="3677045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C1A15-28AB-9B61-2DEF-799BBEE2E7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4C97F28-BB35-F187-6CF9-7E49DB88A4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974FAF-B01E-FC43-E6DA-11B9705F4C04}"/>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5" name="Footer Placeholder 4">
            <a:extLst>
              <a:ext uri="{FF2B5EF4-FFF2-40B4-BE49-F238E27FC236}">
                <a16:creationId xmlns:a16="http://schemas.microsoft.com/office/drawing/2014/main" id="{02EB8504-B684-D379-92EE-F12B74AF12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27F0DE-92DE-46CA-D633-E37B407EFEA6}"/>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2000177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75875-6D77-0474-01B3-D092DE858C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D086C4-11F1-B3E0-5E57-A3CAF44BFC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01F813-69E5-194A-D7D0-79626704A542}"/>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5" name="Footer Placeholder 4">
            <a:extLst>
              <a:ext uri="{FF2B5EF4-FFF2-40B4-BE49-F238E27FC236}">
                <a16:creationId xmlns:a16="http://schemas.microsoft.com/office/drawing/2014/main" id="{93557E2C-E381-0A27-B640-40EB48BD0B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17C384-B430-4CCE-FB47-A1964A281324}"/>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257123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2DDCE-740D-362F-6657-C4F6DFDCD9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9EB3C9-A632-82E7-7BB3-13F3A22879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EDE468-4E86-FFC8-2AD2-1F6AA4913A2D}"/>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5" name="Footer Placeholder 4">
            <a:extLst>
              <a:ext uri="{FF2B5EF4-FFF2-40B4-BE49-F238E27FC236}">
                <a16:creationId xmlns:a16="http://schemas.microsoft.com/office/drawing/2014/main" id="{99D00AC8-897F-565F-0E78-3246CC1B14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E59FD3-EFBE-B071-0AA4-BCC93F098E7C}"/>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3819944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6CB7E-82F1-0A4F-4CF2-690CA3EA3D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D4D8A1-349E-00BB-5194-04CEED8D92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8724380-D1B6-408F-15F2-5158EF0CD1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66203B-536A-9E35-3BAF-0506D9AD1054}"/>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6" name="Footer Placeholder 5">
            <a:extLst>
              <a:ext uri="{FF2B5EF4-FFF2-40B4-BE49-F238E27FC236}">
                <a16:creationId xmlns:a16="http://schemas.microsoft.com/office/drawing/2014/main" id="{2A5156FB-E39D-E625-C888-4DD356FBE6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64FEF6-8D38-86BB-2FC6-9FD60B97DF4F}"/>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217080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88DA1-2B55-04DA-4F6D-D5AF8F04148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513FAA-9914-6EF9-FA52-1527828687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4A7E82-DF59-F0BF-54B7-ABEF02859D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2A8CDD-75E7-46F9-2E53-E7595DBEF4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B060D0-045E-ACA9-FDEA-F35EC6CCDE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B078ECD-EFA1-10E7-435C-3951044FA5E3}"/>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8" name="Footer Placeholder 7">
            <a:extLst>
              <a:ext uri="{FF2B5EF4-FFF2-40B4-BE49-F238E27FC236}">
                <a16:creationId xmlns:a16="http://schemas.microsoft.com/office/drawing/2014/main" id="{ABAC3A1A-46EC-8156-59DB-EAFFFA1CF5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E54966-F5B0-B7DD-7419-3AD635FADF1E}"/>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3438407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E7018-1E2C-48DC-8C0F-F37AEF0E5E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E9DC57-93DE-2ACD-8F17-A6C865138914}"/>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4" name="Footer Placeholder 3">
            <a:extLst>
              <a:ext uri="{FF2B5EF4-FFF2-40B4-BE49-F238E27FC236}">
                <a16:creationId xmlns:a16="http://schemas.microsoft.com/office/drawing/2014/main" id="{F829BC15-12AE-A102-2F42-1921BB20B3F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7944CD-9C11-FD77-4062-C36A4ABF4A20}"/>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1218448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F76560-8DE8-F004-4EC7-584EDBE7F468}"/>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3" name="Footer Placeholder 2">
            <a:extLst>
              <a:ext uri="{FF2B5EF4-FFF2-40B4-BE49-F238E27FC236}">
                <a16:creationId xmlns:a16="http://schemas.microsoft.com/office/drawing/2014/main" id="{A2D44FD9-F596-B462-E738-7C0CAE899C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E3F4B3-A1DC-120F-9CB5-6479057FE4C3}"/>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264506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8B6AB-A77B-09E5-501B-1362BC7836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B43C38-DA9A-CB16-B155-2E4E842ACE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AC632A-D60F-4CDD-33EF-C808E974A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A36F7A-708E-CF48-CBA8-07581679865B}"/>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6" name="Footer Placeholder 5">
            <a:extLst>
              <a:ext uri="{FF2B5EF4-FFF2-40B4-BE49-F238E27FC236}">
                <a16:creationId xmlns:a16="http://schemas.microsoft.com/office/drawing/2014/main" id="{1CCEDD55-4415-9429-E3A1-5926947299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560041-B96B-F0E6-B298-52CEAC90403A}"/>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2212584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F76B6-65F8-1DDA-1C9E-7DA27E914A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D4871D-1FAA-A89D-931B-41F6FECAC6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5851AB-6AA7-20DB-3356-577E3211E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F3EB9C-3A42-4B06-B049-3E02F98801BB}"/>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6" name="Footer Placeholder 5">
            <a:extLst>
              <a:ext uri="{FF2B5EF4-FFF2-40B4-BE49-F238E27FC236}">
                <a16:creationId xmlns:a16="http://schemas.microsoft.com/office/drawing/2014/main" id="{28D10F98-B5A1-4FA6-C511-F71D11C64E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30FDE9-5408-F2A4-C2E4-50F3B2F441A3}"/>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371440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848E-A329-3C3E-87EE-5A20C99758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906981-06AC-5639-1F48-EDEA2D6DEA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8356B3-4E81-D82C-37E2-296AC59E83DE}"/>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5" name="Footer Placeholder 4">
            <a:extLst>
              <a:ext uri="{FF2B5EF4-FFF2-40B4-BE49-F238E27FC236}">
                <a16:creationId xmlns:a16="http://schemas.microsoft.com/office/drawing/2014/main" id="{5546003D-4112-B096-186C-8937AFA1F6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C6B7FB-6F1A-AB76-7D1B-3F2060E96481}"/>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3589739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BA9816-D024-7263-F650-FC57008334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ADDB3E-A152-5148-EB44-F9DB4D5196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3F4171-9FFC-3E4A-EABC-B6D25092B5AD}"/>
              </a:ext>
            </a:extLst>
          </p:cNvPr>
          <p:cNvSpPr>
            <a:spLocks noGrp="1"/>
          </p:cNvSpPr>
          <p:nvPr>
            <p:ph type="dt" sz="half" idx="10"/>
          </p:nvPr>
        </p:nvSpPr>
        <p:spPr/>
        <p:txBody>
          <a:bodyPr/>
          <a:lstStyle/>
          <a:p>
            <a:fld id="{EC187771-9A49-41EA-8A82-D96E50702334}" type="datetimeFigureOut">
              <a:rPr lang="en-IN" smtClean="0"/>
              <a:t>07-03-2026</a:t>
            </a:fld>
            <a:endParaRPr lang="en-IN"/>
          </a:p>
        </p:txBody>
      </p:sp>
      <p:sp>
        <p:nvSpPr>
          <p:cNvPr id="5" name="Footer Placeholder 4">
            <a:extLst>
              <a:ext uri="{FF2B5EF4-FFF2-40B4-BE49-F238E27FC236}">
                <a16:creationId xmlns:a16="http://schemas.microsoft.com/office/drawing/2014/main" id="{818C152D-C7CB-7F0D-6B72-722B8CB76B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4DCE5E-4FB6-7362-8A6D-C29D3B24B7C4}"/>
              </a:ext>
            </a:extLst>
          </p:cNvPr>
          <p:cNvSpPr>
            <a:spLocks noGrp="1"/>
          </p:cNvSpPr>
          <p:nvPr>
            <p:ph type="sldNum" sz="quarter" idx="12"/>
          </p:nvPr>
        </p:nvSpPr>
        <p:spPr/>
        <p:txBody>
          <a:bodyPr/>
          <a:lstStyle/>
          <a:p>
            <a:fld id="{98AFF5B8-7BCA-487E-92D4-B0E0E9DEBCC1}" type="slidenum">
              <a:rPr lang="en-IN" smtClean="0"/>
              <a:t>‹#›</a:t>
            </a:fld>
            <a:endParaRPr lang="en-IN"/>
          </a:p>
        </p:txBody>
      </p:sp>
    </p:spTree>
    <p:extLst>
      <p:ext uri="{BB962C8B-B14F-4D97-AF65-F5344CB8AC3E}">
        <p14:creationId xmlns:p14="http://schemas.microsoft.com/office/powerpoint/2010/main" val="1421094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CC673C-4470-F8C1-B0A8-323D79C23A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7E765D-3E22-D183-3BAB-729AD29C85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97A001-AE44-F25F-01CC-F28C29ED32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187771-9A49-41EA-8A82-D96E50702334}" type="datetimeFigureOut">
              <a:rPr lang="en-IN" smtClean="0"/>
              <a:t>07-03-2026</a:t>
            </a:fld>
            <a:endParaRPr lang="en-IN"/>
          </a:p>
        </p:txBody>
      </p:sp>
      <p:sp>
        <p:nvSpPr>
          <p:cNvPr id="5" name="Footer Placeholder 4">
            <a:extLst>
              <a:ext uri="{FF2B5EF4-FFF2-40B4-BE49-F238E27FC236}">
                <a16:creationId xmlns:a16="http://schemas.microsoft.com/office/drawing/2014/main" id="{E224B750-80E7-E7A7-C737-E405E0E9CC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C840B3-57C8-E4B9-F964-AD283CEA5A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AFF5B8-7BCA-487E-92D4-B0E0E9DEBCC1}" type="slidenum">
              <a:rPr lang="en-IN" smtClean="0"/>
              <a:t>‹#›</a:t>
            </a:fld>
            <a:endParaRPr lang="en-IN"/>
          </a:p>
        </p:txBody>
      </p:sp>
    </p:spTree>
    <p:extLst>
      <p:ext uri="{BB962C8B-B14F-4D97-AF65-F5344CB8AC3E}">
        <p14:creationId xmlns:p14="http://schemas.microsoft.com/office/powerpoint/2010/main" val="3433937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4CBDBB-4FBD-4B9E-BD01-054A81D43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B01A6F03-171F-40B2-8B2C-A061B89241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4" name="Rectangle 13">
            <a:extLst>
              <a:ext uri="{FF2B5EF4-FFF2-40B4-BE49-F238E27FC236}">
                <a16:creationId xmlns:a16="http://schemas.microsoft.com/office/drawing/2014/main" id="{72C4834C-B602-4125-8264-BD0D55A58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172EE5-132F-4DD4-8855-4DBBD9C3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5844" y="1110000"/>
            <a:ext cx="10195740" cy="4629235"/>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19546887-3782-A2C6-4C9B-51C876A382C9}"/>
              </a:ext>
            </a:extLst>
          </p:cNvPr>
          <p:cNvSpPr>
            <a:spLocks noGrp="1"/>
          </p:cNvSpPr>
          <p:nvPr>
            <p:ph type="ctrTitle"/>
          </p:nvPr>
        </p:nvSpPr>
        <p:spPr>
          <a:xfrm>
            <a:off x="1998875" y="1302871"/>
            <a:ext cx="8188026" cy="2044650"/>
          </a:xfrm>
        </p:spPr>
        <p:txBody>
          <a:bodyPr vert="horz" lIns="91440" tIns="45720" rIns="91440" bIns="45720" rtlCol="0" anchor="b">
            <a:normAutofit/>
          </a:bodyPr>
          <a:lstStyle/>
          <a:p>
            <a:r>
              <a:rPr lang="en-US" sz="4800" kern="1200" dirty="0">
                <a:solidFill>
                  <a:schemeClr val="tx1"/>
                </a:solidFill>
                <a:latin typeface="+mj-lt"/>
                <a:ea typeface="+mj-ea"/>
                <a:cs typeface="+mj-cs"/>
              </a:rPr>
              <a:t>AI Job Growth and Market Analysis</a:t>
            </a:r>
          </a:p>
        </p:txBody>
      </p:sp>
      <p:sp>
        <p:nvSpPr>
          <p:cNvPr id="3" name="Subtitle 2">
            <a:extLst>
              <a:ext uri="{FF2B5EF4-FFF2-40B4-BE49-F238E27FC236}">
                <a16:creationId xmlns:a16="http://schemas.microsoft.com/office/drawing/2014/main" id="{A499DE13-CD03-8E1B-EEA4-D7A3BF9DC0D1}"/>
              </a:ext>
            </a:extLst>
          </p:cNvPr>
          <p:cNvSpPr>
            <a:spLocks noGrp="1"/>
          </p:cNvSpPr>
          <p:nvPr>
            <p:ph type="subTitle" idx="1"/>
          </p:nvPr>
        </p:nvSpPr>
        <p:spPr>
          <a:xfrm>
            <a:off x="1993641" y="3519236"/>
            <a:ext cx="8192843" cy="2057046"/>
          </a:xfrm>
        </p:spPr>
        <p:txBody>
          <a:bodyPr vert="horz" lIns="91440" tIns="45720" rIns="91440" bIns="45720" rtlCol="0" anchor="t">
            <a:normAutofit/>
          </a:bodyPr>
          <a:lstStyle/>
          <a:p>
            <a:r>
              <a:rPr lang="en-US" sz="1800" dirty="0"/>
              <a:t>MSDS670 – Data Visualization Final Project</a:t>
            </a:r>
          </a:p>
          <a:p>
            <a:r>
              <a:rPr lang="en-US" sz="1800" dirty="0"/>
              <a:t>Sriram Devaraju</a:t>
            </a:r>
          </a:p>
          <a:p>
            <a:r>
              <a:rPr lang="en-US" sz="1800" dirty="0"/>
              <a:t>Jason Koenig</a:t>
            </a:r>
          </a:p>
          <a:p>
            <a:r>
              <a:rPr lang="en-US" sz="1800" dirty="0"/>
              <a:t>Regis University</a:t>
            </a:r>
          </a:p>
          <a:p>
            <a:r>
              <a:rPr lang="en-US" sz="1800" dirty="0"/>
              <a:t>March 2026</a:t>
            </a:r>
          </a:p>
          <a:p>
            <a:pPr indent="-228600">
              <a:buFont typeface="Arial" panose="020B0604020202020204" pitchFamily="34" charset="0"/>
              <a:buChar char="•"/>
            </a:pPr>
            <a:endParaRPr lang="en-US" sz="1800" dirty="0"/>
          </a:p>
        </p:txBody>
      </p:sp>
    </p:spTree>
    <p:extLst>
      <p:ext uri="{BB962C8B-B14F-4D97-AF65-F5344CB8AC3E}">
        <p14:creationId xmlns:p14="http://schemas.microsoft.com/office/powerpoint/2010/main" val="3446031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0A353F-A8E2-9C51-EA53-B4535D537562}"/>
              </a:ext>
            </a:extLst>
          </p:cNvPr>
          <p:cNvSpPr>
            <a:spLocks noGrp="1"/>
          </p:cNvSpPr>
          <p:nvPr>
            <p:ph type="title"/>
          </p:nvPr>
        </p:nvSpPr>
        <p:spPr>
          <a:xfrm>
            <a:off x="838201" y="300580"/>
            <a:ext cx="9829800" cy="1089529"/>
          </a:xfrm>
        </p:spPr>
        <p:txBody>
          <a:bodyPr>
            <a:normAutofit/>
          </a:bodyPr>
          <a:lstStyle/>
          <a:p>
            <a:r>
              <a:rPr lang="en-IN" sz="3600">
                <a:solidFill>
                  <a:srgbClr val="FFFFFF"/>
                </a:solidFill>
              </a:rPr>
              <a:t>                                       Problem </a:t>
            </a:r>
          </a:p>
        </p:txBody>
      </p:sp>
      <p:sp>
        <p:nvSpPr>
          <p:cNvPr id="23"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25"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27"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6" name="Rectangle 1">
            <a:extLst>
              <a:ext uri="{FF2B5EF4-FFF2-40B4-BE49-F238E27FC236}">
                <a16:creationId xmlns:a16="http://schemas.microsoft.com/office/drawing/2014/main" id="{B31097A7-65F9-8F0F-CE78-ABABE4D58474}"/>
              </a:ext>
            </a:extLst>
          </p:cNvPr>
          <p:cNvGraphicFramePr>
            <a:graphicFrameLocks noGrp="1"/>
          </p:cNvGraphicFramePr>
          <p:nvPr>
            <p:ph idx="1"/>
            <p:extLst>
              <p:ext uri="{D42A27DB-BD31-4B8C-83A1-F6EECF244321}">
                <p14:modId xmlns:p14="http://schemas.microsoft.com/office/powerpoint/2010/main" val="1349516947"/>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0869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CE3382D-1CCC-DB1E-C327-866695081EF6}"/>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Research Question</a:t>
            </a:r>
            <a:endParaRPr lang="en-IN" sz="4000">
              <a:solidFill>
                <a:srgbClr val="FFFFFF"/>
              </a:solidFill>
            </a:endParaRPr>
          </a:p>
        </p:txBody>
      </p:sp>
      <p:sp>
        <p:nvSpPr>
          <p:cNvPr id="3" name="Content Placeholder 2">
            <a:extLst>
              <a:ext uri="{FF2B5EF4-FFF2-40B4-BE49-F238E27FC236}">
                <a16:creationId xmlns:a16="http://schemas.microsoft.com/office/drawing/2014/main" id="{A814EB74-0D39-8E9B-D8C0-F22DAC7C1214}"/>
              </a:ext>
            </a:extLst>
          </p:cNvPr>
          <p:cNvSpPr>
            <a:spLocks noGrp="1"/>
          </p:cNvSpPr>
          <p:nvPr>
            <p:ph idx="1"/>
          </p:nvPr>
        </p:nvSpPr>
        <p:spPr>
          <a:xfrm>
            <a:off x="6503158" y="649480"/>
            <a:ext cx="4862447" cy="5546047"/>
          </a:xfrm>
        </p:spPr>
        <p:txBody>
          <a:bodyPr anchor="ctr">
            <a:normAutofit/>
          </a:bodyPr>
          <a:lstStyle/>
          <a:p>
            <a:pPr marL="0" indent="0">
              <a:buNone/>
            </a:pPr>
            <a:r>
              <a:rPr lang="en-US" sz="2000"/>
              <a:t>How did AI job demand change over time, and how do experience level and required technical skills explain salary and hiring patterns in AI job postings?</a:t>
            </a:r>
            <a:endParaRPr lang="en-IN" sz="2000"/>
          </a:p>
        </p:txBody>
      </p:sp>
    </p:spTree>
    <p:extLst>
      <p:ext uri="{BB962C8B-B14F-4D97-AF65-F5344CB8AC3E}">
        <p14:creationId xmlns:p14="http://schemas.microsoft.com/office/powerpoint/2010/main" val="316544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404FF5-EECB-2646-2AD4-E9EDD44B03A2}"/>
              </a:ext>
            </a:extLst>
          </p:cNvPr>
          <p:cNvSpPr>
            <a:spLocks noGrp="1"/>
          </p:cNvSpPr>
          <p:nvPr>
            <p:ph type="title"/>
          </p:nvPr>
        </p:nvSpPr>
        <p:spPr>
          <a:xfrm>
            <a:off x="838201" y="300580"/>
            <a:ext cx="9829800" cy="1089529"/>
          </a:xfrm>
        </p:spPr>
        <p:txBody>
          <a:bodyPr>
            <a:normAutofit/>
          </a:bodyPr>
          <a:lstStyle/>
          <a:p>
            <a:r>
              <a:rPr lang="en-US" sz="3600">
                <a:solidFill>
                  <a:srgbClr val="FFFFFF"/>
                </a:solidFill>
              </a:rPr>
              <a:t>Data </a:t>
            </a:r>
            <a:endParaRPr lang="en-IN" sz="3600">
              <a:solidFill>
                <a:srgbClr val="FFFFFF"/>
              </a:solidFill>
            </a:endParaRPr>
          </a:p>
        </p:txBody>
      </p:sp>
      <p:sp>
        <p:nvSpPr>
          <p:cNvPr id="27"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29"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31"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21" name="Rectangle 1">
            <a:extLst>
              <a:ext uri="{FF2B5EF4-FFF2-40B4-BE49-F238E27FC236}">
                <a16:creationId xmlns:a16="http://schemas.microsoft.com/office/drawing/2014/main" id="{DAF765F3-77D2-4F0E-93DF-14D3B22B466F}"/>
              </a:ext>
            </a:extLst>
          </p:cNvPr>
          <p:cNvGraphicFramePr>
            <a:graphicFrameLocks noGrp="1"/>
          </p:cNvGraphicFramePr>
          <p:nvPr>
            <p:ph idx="1"/>
            <p:extLst>
              <p:ext uri="{D42A27DB-BD31-4B8C-83A1-F6EECF244321}">
                <p14:modId xmlns:p14="http://schemas.microsoft.com/office/powerpoint/2010/main" val="64681666"/>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9950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FD947C-3C27-BF41-4454-D6B49F7AD1CB}"/>
              </a:ext>
            </a:extLst>
          </p:cNvPr>
          <p:cNvSpPr>
            <a:spLocks noGrp="1"/>
          </p:cNvSpPr>
          <p:nvPr>
            <p:ph type="title"/>
          </p:nvPr>
        </p:nvSpPr>
        <p:spPr>
          <a:xfrm>
            <a:off x="838201" y="300580"/>
            <a:ext cx="9829800" cy="1089529"/>
          </a:xfrm>
        </p:spPr>
        <p:txBody>
          <a:bodyPr>
            <a:normAutofit/>
          </a:bodyPr>
          <a:lstStyle/>
          <a:p>
            <a:r>
              <a:rPr lang="en-IN" sz="3600">
                <a:solidFill>
                  <a:srgbClr val="FFFFFF"/>
                </a:solidFill>
              </a:rPr>
              <a:t>Methodology</a:t>
            </a:r>
          </a:p>
        </p:txBody>
      </p:sp>
      <p:sp>
        <p:nvSpPr>
          <p:cNvPr id="27"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29"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31"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6" name="Rectangle 1">
            <a:extLst>
              <a:ext uri="{FF2B5EF4-FFF2-40B4-BE49-F238E27FC236}">
                <a16:creationId xmlns:a16="http://schemas.microsoft.com/office/drawing/2014/main" id="{7467C9BE-C83D-0AD7-1D81-9D9A7FBADE7C}"/>
              </a:ext>
            </a:extLst>
          </p:cNvPr>
          <p:cNvGraphicFramePr>
            <a:graphicFrameLocks noGrp="1"/>
          </p:cNvGraphicFramePr>
          <p:nvPr>
            <p:ph idx="1"/>
            <p:extLst>
              <p:ext uri="{D42A27DB-BD31-4B8C-83A1-F6EECF244321}">
                <p14:modId xmlns:p14="http://schemas.microsoft.com/office/powerpoint/2010/main" val="2386675007"/>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8460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9F0903-ACB8-A5B8-AD7D-3CC5A0D56B02}"/>
              </a:ext>
            </a:extLst>
          </p:cNvPr>
          <p:cNvSpPr>
            <a:spLocks noGrp="1"/>
          </p:cNvSpPr>
          <p:nvPr>
            <p:ph type="title"/>
          </p:nvPr>
        </p:nvSpPr>
        <p:spPr>
          <a:xfrm>
            <a:off x="871442" y="685800"/>
            <a:ext cx="4353116" cy="1474666"/>
          </a:xfrm>
        </p:spPr>
        <p:txBody>
          <a:bodyPr vert="horz" lIns="91440" tIns="45720" rIns="91440" bIns="45720" rtlCol="0" anchor="b">
            <a:normAutofit/>
          </a:bodyPr>
          <a:lstStyle/>
          <a:p>
            <a:pPr algn="ctr"/>
            <a:r>
              <a:rPr lang="en-US" sz="3200" kern="1200">
                <a:solidFill>
                  <a:srgbClr val="595959"/>
                </a:solidFill>
                <a:latin typeface="+mj-lt"/>
                <a:ea typeface="+mj-ea"/>
                <a:cs typeface="+mj-cs"/>
              </a:rPr>
              <a:t>Chart 1 -AI Job Postings by Month (2024–2025)</a:t>
            </a:r>
          </a:p>
        </p:txBody>
      </p:sp>
      <p:sp>
        <p:nvSpPr>
          <p:cNvPr id="5" name="Rectangle 1">
            <a:extLst>
              <a:ext uri="{FF2B5EF4-FFF2-40B4-BE49-F238E27FC236}">
                <a16:creationId xmlns:a16="http://schemas.microsoft.com/office/drawing/2014/main" id="{736D09DF-E0EF-AE4B-2449-6D35E81DDA42}"/>
              </a:ext>
            </a:extLst>
          </p:cNvPr>
          <p:cNvSpPr>
            <a:spLocks noGrp="1" noChangeArrowheads="1"/>
          </p:cNvSpPr>
          <p:nvPr>
            <p:ph sz="half" idx="1"/>
          </p:nvPr>
        </p:nvSpPr>
        <p:spPr bwMode="auto">
          <a:xfrm>
            <a:off x="871442" y="2447337"/>
            <a:ext cx="4353116" cy="37704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Job postings stayed consistently high across the period</a:t>
            </a:r>
            <a:r>
              <a:rPr lang="en-US" altLang="en-US" sz="2000">
                <a:solidFill>
                  <a:srgbClr val="595959"/>
                </a:solidFill>
              </a:rPr>
              <a:t>.</a:t>
            </a:r>
            <a:endParaRPr kumimoji="0" lang="en-US" altLang="en-US" sz="2000" b="0" i="0" u="none" strike="noStrike" cap="none" normalizeH="0" baseline="0">
              <a:ln>
                <a:noFill/>
              </a:ln>
              <a:solidFill>
                <a:srgbClr val="595959"/>
              </a:solidFill>
              <a:effectLst/>
            </a:endParaRP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Highest postings occurred around April 2024</a:t>
            </a:r>
            <a:r>
              <a:rPr lang="en-US" altLang="en-US" sz="2000">
                <a:solidFill>
                  <a:srgbClr val="595959"/>
                </a:solidFill>
              </a:rPr>
              <a:t>.</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Lowest value appears in early 2025.</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Overall trend shows steady demand for AI jobs.</a:t>
            </a:r>
          </a:p>
        </p:txBody>
      </p:sp>
      <p:pic>
        <p:nvPicPr>
          <p:cNvPr id="7" name="Content Placeholder 6">
            <a:extLst>
              <a:ext uri="{FF2B5EF4-FFF2-40B4-BE49-F238E27FC236}">
                <a16:creationId xmlns:a16="http://schemas.microsoft.com/office/drawing/2014/main" id="{393D691D-434B-95AB-DF79-0236D1936955}"/>
              </a:ext>
              <a:ext uri="{C183D7F6-B498-43B3-948B-1728B52AA6E4}">
                <adec:decorative xmlns:adec="http://schemas.microsoft.com/office/drawing/2017/decorative" val="1"/>
              </a:ext>
            </a:extLst>
          </p:cNvPr>
          <p:cNvPicPr>
            <a:picLocks noGrp="1" noChangeAspect="1"/>
          </p:cNvPicPr>
          <p:nvPr>
            <p:ph sz="half" idx="2"/>
          </p:nvPr>
        </p:nvPicPr>
        <p:blipFill>
          <a:blip r:embed="rId3"/>
          <a:stretch>
            <a:fillRect/>
          </a:stretch>
        </p:blipFill>
        <p:spPr>
          <a:xfrm>
            <a:off x="6781801" y="1976690"/>
            <a:ext cx="4797056" cy="2950190"/>
          </a:xfrm>
          <a:prstGeom prst="rect">
            <a:avLst/>
          </a:prstGeom>
        </p:spPr>
      </p:pic>
    </p:spTree>
    <p:extLst>
      <p:ext uri="{BB962C8B-B14F-4D97-AF65-F5344CB8AC3E}">
        <p14:creationId xmlns:p14="http://schemas.microsoft.com/office/powerpoint/2010/main" val="426972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41395E-3E0D-E6B0-3B45-4B29541AFBB4}"/>
              </a:ext>
            </a:extLst>
          </p:cNvPr>
          <p:cNvSpPr>
            <a:spLocks noGrp="1"/>
          </p:cNvSpPr>
          <p:nvPr>
            <p:ph type="title"/>
          </p:nvPr>
        </p:nvSpPr>
        <p:spPr>
          <a:xfrm>
            <a:off x="871442" y="685800"/>
            <a:ext cx="4353116" cy="1474666"/>
          </a:xfrm>
        </p:spPr>
        <p:txBody>
          <a:bodyPr vert="horz" lIns="91440" tIns="45720" rIns="91440" bIns="45720" rtlCol="0" anchor="b">
            <a:normAutofit/>
          </a:bodyPr>
          <a:lstStyle/>
          <a:p>
            <a:pPr algn="ctr"/>
            <a:r>
              <a:rPr lang="en-US" sz="3200" kern="1200">
                <a:solidFill>
                  <a:srgbClr val="595959"/>
                </a:solidFill>
                <a:latin typeface="+mj-lt"/>
                <a:ea typeface="+mj-ea"/>
                <a:cs typeface="+mj-cs"/>
              </a:rPr>
              <a:t>Chart 2 - Average Salary by Experience Level</a:t>
            </a:r>
          </a:p>
        </p:txBody>
      </p:sp>
      <p:sp>
        <p:nvSpPr>
          <p:cNvPr id="5" name="Rectangle 1">
            <a:extLst>
              <a:ext uri="{FF2B5EF4-FFF2-40B4-BE49-F238E27FC236}">
                <a16:creationId xmlns:a16="http://schemas.microsoft.com/office/drawing/2014/main" id="{07E85141-D8D1-EA4D-2B31-B4E9640D25F2}"/>
              </a:ext>
            </a:extLst>
          </p:cNvPr>
          <p:cNvSpPr>
            <a:spLocks noGrp="1" noChangeArrowheads="1"/>
          </p:cNvSpPr>
          <p:nvPr>
            <p:ph sz="half" idx="1"/>
          </p:nvPr>
        </p:nvSpPr>
        <p:spPr bwMode="auto">
          <a:xfrm>
            <a:off x="871442" y="2447337"/>
            <a:ext cx="4353116" cy="37704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Salary increases as experience level increases..</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Entry level has the lowest average salary.</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Executive level has the highest salary.</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Experience is a major factor in AI pay.</a:t>
            </a:r>
          </a:p>
        </p:txBody>
      </p:sp>
      <p:pic>
        <p:nvPicPr>
          <p:cNvPr id="7" name="Content Placeholder 6" descr="The diagram displays a bar chart illustrating the average salary in USD for various experience levels, ranging from entry (0 years) to senior (175,000 years), with specific values for each level.">
            <a:extLst>
              <a:ext uri="{FF2B5EF4-FFF2-40B4-BE49-F238E27FC236}">
                <a16:creationId xmlns:a16="http://schemas.microsoft.com/office/drawing/2014/main" id="{47479272-15D3-16C8-DDE9-28EDA5A48E0C}"/>
              </a:ext>
            </a:extLst>
          </p:cNvPr>
          <p:cNvPicPr>
            <a:picLocks noGrp="1" noChangeAspect="1"/>
          </p:cNvPicPr>
          <p:nvPr>
            <p:ph sz="half" idx="2"/>
          </p:nvPr>
        </p:nvPicPr>
        <p:blipFill>
          <a:blip r:embed="rId3"/>
          <a:stretch>
            <a:fillRect/>
          </a:stretch>
        </p:blipFill>
        <p:spPr>
          <a:xfrm>
            <a:off x="6781801" y="2030657"/>
            <a:ext cx="4797056" cy="2842256"/>
          </a:xfrm>
          <a:prstGeom prst="rect">
            <a:avLst/>
          </a:prstGeom>
        </p:spPr>
      </p:pic>
    </p:spTree>
    <p:extLst>
      <p:ext uri="{BB962C8B-B14F-4D97-AF65-F5344CB8AC3E}">
        <p14:creationId xmlns:p14="http://schemas.microsoft.com/office/powerpoint/2010/main" val="3948477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94E152-170C-CE9B-71D0-D363BD467E0C}"/>
              </a:ext>
            </a:extLst>
          </p:cNvPr>
          <p:cNvSpPr>
            <a:spLocks noGrp="1"/>
          </p:cNvSpPr>
          <p:nvPr>
            <p:ph type="title"/>
          </p:nvPr>
        </p:nvSpPr>
        <p:spPr>
          <a:xfrm>
            <a:off x="871442" y="685800"/>
            <a:ext cx="4353116" cy="1474666"/>
          </a:xfrm>
        </p:spPr>
        <p:txBody>
          <a:bodyPr vert="horz" lIns="91440" tIns="45720" rIns="91440" bIns="45720" rtlCol="0" anchor="b">
            <a:normAutofit/>
          </a:bodyPr>
          <a:lstStyle/>
          <a:p>
            <a:pPr algn="ctr"/>
            <a:r>
              <a:rPr lang="en-US" sz="3200" kern="1200">
                <a:solidFill>
                  <a:srgbClr val="595959"/>
                </a:solidFill>
                <a:latin typeface="+mj-lt"/>
                <a:ea typeface="+mj-ea"/>
                <a:cs typeface="+mj-cs"/>
              </a:rPr>
              <a:t>Chart3-Top 10 Required AI Skills</a:t>
            </a:r>
          </a:p>
        </p:txBody>
      </p:sp>
      <p:sp>
        <p:nvSpPr>
          <p:cNvPr id="5" name="Rectangle 1">
            <a:extLst>
              <a:ext uri="{FF2B5EF4-FFF2-40B4-BE49-F238E27FC236}">
                <a16:creationId xmlns:a16="http://schemas.microsoft.com/office/drawing/2014/main" id="{DAC7D63B-A610-D562-46B4-7651E15CCEE0}"/>
              </a:ext>
            </a:extLst>
          </p:cNvPr>
          <p:cNvSpPr>
            <a:spLocks noGrp="1" noChangeArrowheads="1"/>
          </p:cNvSpPr>
          <p:nvPr>
            <p:ph sz="half" idx="1"/>
          </p:nvPr>
        </p:nvSpPr>
        <p:spPr bwMode="auto">
          <a:xfrm>
            <a:off x="871442" y="2447337"/>
            <a:ext cx="4353116" cy="37704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Python is the most requested skill.</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SQL and TensorFlow also appear frequently.</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Many skills are related to programming and machine learning.</a:t>
            </a:r>
          </a:p>
          <a:p>
            <a:pPr marR="0" lvl="0" fontAlgn="base">
              <a:spcBef>
                <a:spcPct val="0"/>
              </a:spcBef>
              <a:spcAft>
                <a:spcPts val="600"/>
              </a:spcAft>
              <a:buClrTx/>
              <a:buSzTx/>
              <a:tabLst/>
            </a:pPr>
            <a:r>
              <a:rPr kumimoji="0" lang="en-US" altLang="en-US" sz="2000" b="0" i="0" u="none" strike="noStrike" cap="none" normalizeH="0" baseline="0">
                <a:ln>
                  <a:noFill/>
                </a:ln>
                <a:solidFill>
                  <a:srgbClr val="595959"/>
                </a:solidFill>
                <a:effectLst/>
              </a:rPr>
              <a:t>Employers look for both software and AI knowledge</a:t>
            </a:r>
          </a:p>
        </p:txBody>
      </p:sp>
      <p:pic>
        <p:nvPicPr>
          <p:cNvPr id="7" name="Content Placeholder 6" descr="The image is a bar chart depicting the top 10 required skills, with 'Al' being the most in-demand, followed by 'Job Postings', 'Scala', 'Scala', 'TensorFlow', 'Python', 'Skill', 'Kubernetes', 'Git', 'GCP', and 'ener' at the bottom.&#10;&#10;AI-generated content may be incorrect.">
            <a:extLst>
              <a:ext uri="{FF2B5EF4-FFF2-40B4-BE49-F238E27FC236}">
                <a16:creationId xmlns:a16="http://schemas.microsoft.com/office/drawing/2014/main" id="{DC346DE6-034D-AEE0-F926-7A948DDD0F00}"/>
              </a:ext>
            </a:extLst>
          </p:cNvPr>
          <p:cNvPicPr>
            <a:picLocks noGrp="1" noChangeAspect="1"/>
          </p:cNvPicPr>
          <p:nvPr>
            <p:ph sz="half" idx="2"/>
          </p:nvPr>
        </p:nvPicPr>
        <p:blipFill>
          <a:blip r:embed="rId3"/>
          <a:stretch>
            <a:fillRect/>
          </a:stretch>
        </p:blipFill>
        <p:spPr>
          <a:xfrm>
            <a:off x="6781801" y="1946709"/>
            <a:ext cx="4797056" cy="3010151"/>
          </a:xfrm>
          <a:prstGeom prst="rect">
            <a:avLst/>
          </a:prstGeom>
        </p:spPr>
      </p:pic>
    </p:spTree>
    <p:extLst>
      <p:ext uri="{BB962C8B-B14F-4D97-AF65-F5344CB8AC3E}">
        <p14:creationId xmlns:p14="http://schemas.microsoft.com/office/powerpoint/2010/main" val="1855369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6F6B15-4CB5-5CCF-DA8B-CC387C2B5F5E}"/>
              </a:ext>
            </a:extLst>
          </p:cNvPr>
          <p:cNvSpPr>
            <a:spLocks noGrp="1"/>
          </p:cNvSpPr>
          <p:nvPr>
            <p:ph type="title"/>
          </p:nvPr>
        </p:nvSpPr>
        <p:spPr>
          <a:xfrm>
            <a:off x="838201" y="300580"/>
            <a:ext cx="9829800" cy="1089529"/>
          </a:xfrm>
        </p:spPr>
        <p:txBody>
          <a:bodyPr>
            <a:normAutofit/>
          </a:bodyPr>
          <a:lstStyle/>
          <a:p>
            <a:r>
              <a:rPr lang="en-IN" sz="3600">
                <a:solidFill>
                  <a:srgbClr val="FFFFFF"/>
                </a:solidFill>
              </a:rPr>
              <a:t>Results </a:t>
            </a:r>
          </a:p>
        </p:txBody>
      </p:sp>
      <p:sp>
        <p:nvSpPr>
          <p:cNvPr id="28"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30"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32"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6" name="Rectangle 1">
            <a:extLst>
              <a:ext uri="{FF2B5EF4-FFF2-40B4-BE49-F238E27FC236}">
                <a16:creationId xmlns:a16="http://schemas.microsoft.com/office/drawing/2014/main" id="{F795C1C9-D564-0BB4-AC2B-73A48AB1F129}"/>
              </a:ext>
            </a:extLst>
          </p:cNvPr>
          <p:cNvGraphicFramePr>
            <a:graphicFrameLocks noGrp="1"/>
          </p:cNvGraphicFramePr>
          <p:nvPr>
            <p:ph idx="1"/>
            <p:extLst>
              <p:ext uri="{D42A27DB-BD31-4B8C-83A1-F6EECF244321}">
                <p14:modId xmlns:p14="http://schemas.microsoft.com/office/powerpoint/2010/main" val="426292755"/>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1773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690688"/>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BA528A-7722-877C-7C95-0EA592C2DCE9}"/>
              </a:ext>
            </a:extLst>
          </p:cNvPr>
          <p:cNvSpPr>
            <a:spLocks noGrp="1"/>
          </p:cNvSpPr>
          <p:nvPr>
            <p:ph type="title"/>
          </p:nvPr>
        </p:nvSpPr>
        <p:spPr>
          <a:xfrm>
            <a:off x="838201" y="300580"/>
            <a:ext cx="9829800" cy="1089529"/>
          </a:xfrm>
        </p:spPr>
        <p:txBody>
          <a:bodyPr>
            <a:normAutofit/>
          </a:bodyPr>
          <a:lstStyle/>
          <a:p>
            <a:r>
              <a:rPr lang="en-IN" sz="3600">
                <a:solidFill>
                  <a:srgbClr val="FFFFFF"/>
                </a:solidFill>
              </a:rPr>
              <a:t>                            Conclusions</a:t>
            </a:r>
          </a:p>
        </p:txBody>
      </p:sp>
      <p:sp>
        <p:nvSpPr>
          <p:cNvPr id="39"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p>
        </p:txBody>
      </p:sp>
      <p:sp>
        <p:nvSpPr>
          <p:cNvPr id="40"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p>
        </p:txBody>
      </p:sp>
      <p:sp>
        <p:nvSpPr>
          <p:cNvPr id="41"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p>
        </p:txBody>
      </p:sp>
      <p:graphicFrame>
        <p:nvGraphicFramePr>
          <p:cNvPr id="6" name="Rectangle 1">
            <a:extLst>
              <a:ext uri="{FF2B5EF4-FFF2-40B4-BE49-F238E27FC236}">
                <a16:creationId xmlns:a16="http://schemas.microsoft.com/office/drawing/2014/main" id="{3BD41680-3E80-4F02-9836-E7AA6BA6DEEE}"/>
              </a:ext>
            </a:extLst>
          </p:cNvPr>
          <p:cNvGraphicFramePr>
            <a:graphicFrameLocks noGrp="1"/>
          </p:cNvGraphicFramePr>
          <p:nvPr>
            <p:ph idx="1"/>
            <p:extLst>
              <p:ext uri="{D42A27DB-BD31-4B8C-83A1-F6EECF244321}">
                <p14:modId xmlns:p14="http://schemas.microsoft.com/office/powerpoint/2010/main" val="2604052993"/>
              </p:ext>
            </p:extLst>
          </p:nvPr>
        </p:nvGraphicFramePr>
        <p:xfrm>
          <a:off x="838200" y="2211233"/>
          <a:ext cx="10515600" cy="396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7925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1117</Words>
  <Application>Microsoft Office PowerPoint</Application>
  <PresentationFormat>Widescreen</PresentationFormat>
  <Paragraphs>66</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AI Job Growth and Market Analysis</vt:lpstr>
      <vt:lpstr>                                       Problem </vt:lpstr>
      <vt:lpstr>Research Question</vt:lpstr>
      <vt:lpstr>Data </vt:lpstr>
      <vt:lpstr>Methodology</vt:lpstr>
      <vt:lpstr>Chart 1 -AI Job Postings by Month (2024–2025)</vt:lpstr>
      <vt:lpstr>Chart 2 - Average Salary by Experience Level</vt:lpstr>
      <vt:lpstr>Chart3-Top 10 Required AI Skills</vt:lpstr>
      <vt:lpstr>Results </vt:lpstr>
      <vt:lpstr>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Devaraju, Sriram Pranay Sharma</dc:creator>
  <cp:lastModifiedBy>Devaraju, Sriram Pranay Sharma</cp:lastModifiedBy>
  <cp:revision>2</cp:revision>
  <dcterms:created xsi:type="dcterms:W3CDTF">2026-03-08T05:21:30Z</dcterms:created>
  <dcterms:modified xsi:type="dcterms:W3CDTF">2026-03-08T06:35:46Z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de1d5b-8b4b-4e4e-a8a1-d2976158103f_Enabled">
    <vt:lpwstr>true</vt:lpwstr>
  </property>
  <property fmtid="{D5CDD505-2E9C-101B-9397-08002B2CF9AE}" pid="3" name="MSIP_Label_a6de1d5b-8b4b-4e4e-a8a1-d2976158103f_SetDate">
    <vt:lpwstr>2026-03-08T05:57:57Z</vt:lpwstr>
  </property>
  <property fmtid="{D5CDD505-2E9C-101B-9397-08002B2CF9AE}" pid="4" name="MSIP_Label_a6de1d5b-8b4b-4e4e-a8a1-d2976158103f_Method">
    <vt:lpwstr>Standard</vt:lpwstr>
  </property>
  <property fmtid="{D5CDD505-2E9C-101B-9397-08002B2CF9AE}" pid="5" name="MSIP_Label_a6de1d5b-8b4b-4e4e-a8a1-d2976158103f_Name">
    <vt:lpwstr>defa4170-0d19-0005-0004-bc88714345d2</vt:lpwstr>
  </property>
  <property fmtid="{D5CDD505-2E9C-101B-9397-08002B2CF9AE}" pid="6" name="MSIP_Label_a6de1d5b-8b4b-4e4e-a8a1-d2976158103f_SiteId">
    <vt:lpwstr>ecd4c5d9-c2fe-4522-afd1-f0d20755d9d7</vt:lpwstr>
  </property>
  <property fmtid="{D5CDD505-2E9C-101B-9397-08002B2CF9AE}" pid="7" name="MSIP_Label_a6de1d5b-8b4b-4e4e-a8a1-d2976158103f_ActionId">
    <vt:lpwstr>0bb76327-9889-4663-939a-d744997fb7e5</vt:lpwstr>
  </property>
  <property fmtid="{D5CDD505-2E9C-101B-9397-08002B2CF9AE}" pid="8" name="MSIP_Label_a6de1d5b-8b4b-4e4e-a8a1-d2976158103f_ContentBits">
    <vt:lpwstr>0</vt:lpwstr>
  </property>
  <property fmtid="{D5CDD505-2E9C-101B-9397-08002B2CF9AE}" pid="9" name="MSIP_Label_a6de1d5b-8b4b-4e4e-a8a1-d2976158103f_Tag">
    <vt:lpwstr>10, 3, 0, 1</vt:lpwstr>
  </property>
</Properties>
</file>